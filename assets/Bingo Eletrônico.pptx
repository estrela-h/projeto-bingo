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7" r:id="rId6"/>
    <p:sldId id="268" r:id="rId7"/>
    <p:sldId id="259" r:id="rId8"/>
    <p:sldId id="269" r:id="rId9"/>
    <p:sldId id="270" r:id="rId10"/>
    <p:sldId id="264" r:id="rId11"/>
    <p:sldId id="263" r:id="rId12"/>
    <p:sldId id="265" r:id="rId13"/>
    <p:sldId id="261" r:id="rId14"/>
    <p:sldId id="262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5A3"/>
    <a:srgbClr val="FF9F28"/>
    <a:srgbClr val="03AE85"/>
    <a:srgbClr val="E02C14"/>
    <a:srgbClr val="460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8FFF62-A434-942E-B686-225AD31B874C}" v="1586" dt="2026-06-14T19:23:27.975"/>
    <p1510:client id="{B4850900-0950-E916-0282-193976EC4D46}" v="153" dt="2026-06-14T11:16:19.3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14.06.2026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14.06.2026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14.06.2026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14.06.2026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14.06.2026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14.06.2026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14.06.2026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14.06.2026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14.06.2026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14.06.2026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14.06.2026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14.06.2026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5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1C0AFAE-1DBB-36BA-85B5-96C36710893E}"/>
              </a:ext>
            </a:extLst>
          </p:cNvPr>
          <p:cNvSpPr/>
          <p:nvPr/>
        </p:nvSpPr>
        <p:spPr>
          <a:xfrm>
            <a:off x="-832127" y="-35504"/>
            <a:ext cx="5486282" cy="6882059"/>
          </a:xfrm>
          <a:prstGeom prst="rect">
            <a:avLst/>
          </a:prstGeom>
          <a:solidFill>
            <a:srgbClr val="460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75B12AA-0585-640B-9679-DE0E37182994}"/>
              </a:ext>
            </a:extLst>
          </p:cNvPr>
          <p:cNvSpPr/>
          <p:nvPr/>
        </p:nvSpPr>
        <p:spPr>
          <a:xfrm>
            <a:off x="4391549" y="5744780"/>
            <a:ext cx="855306" cy="691287"/>
          </a:xfrm>
          <a:prstGeom prst="roundRect">
            <a:avLst/>
          </a:prstGeom>
          <a:solidFill>
            <a:srgbClr val="460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3">
            <a:extLst>
              <a:ext uri="{FF2B5EF4-FFF2-40B4-BE49-F238E27FC236}">
                <a16:creationId xmlns:a16="http://schemas.microsoft.com/office/drawing/2014/main" id="{B87950B0-C125-CEE7-7341-E30472EAF729}"/>
              </a:ext>
            </a:extLst>
          </p:cNvPr>
          <p:cNvSpPr/>
          <p:nvPr/>
        </p:nvSpPr>
        <p:spPr>
          <a:xfrm>
            <a:off x="-1694769" y="-35505"/>
            <a:ext cx="5486282" cy="6882059"/>
          </a:xfrm>
          <a:prstGeom prst="rect">
            <a:avLst/>
          </a:prstGeom>
          <a:solidFill>
            <a:srgbClr val="E02C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4FA7344-5A78-0C2F-7E94-938558FB6427}"/>
              </a:ext>
            </a:extLst>
          </p:cNvPr>
          <p:cNvSpPr/>
          <p:nvPr/>
        </p:nvSpPr>
        <p:spPr>
          <a:xfrm>
            <a:off x="3528906" y="4882137"/>
            <a:ext cx="855306" cy="691287"/>
          </a:xfrm>
          <a:prstGeom prst="roundRect">
            <a:avLst/>
          </a:prstGeom>
          <a:solidFill>
            <a:srgbClr val="E02C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3">
            <a:extLst>
              <a:ext uri="{FF2B5EF4-FFF2-40B4-BE49-F238E27FC236}">
                <a16:creationId xmlns:a16="http://schemas.microsoft.com/office/drawing/2014/main" id="{0045844E-862E-465F-B198-CFD3707FC3A8}"/>
              </a:ext>
            </a:extLst>
          </p:cNvPr>
          <p:cNvSpPr/>
          <p:nvPr/>
        </p:nvSpPr>
        <p:spPr>
          <a:xfrm>
            <a:off x="-2514277" y="-193654"/>
            <a:ext cx="5486282" cy="7040210"/>
          </a:xfrm>
          <a:prstGeom prst="rect">
            <a:avLst/>
          </a:prstGeom>
          <a:solidFill>
            <a:srgbClr val="03AE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2825E9A0-1A32-E097-3B8E-89F0B4DAC9A9}"/>
              </a:ext>
            </a:extLst>
          </p:cNvPr>
          <p:cNvSpPr/>
          <p:nvPr/>
        </p:nvSpPr>
        <p:spPr>
          <a:xfrm>
            <a:off x="2666266" y="3947610"/>
            <a:ext cx="855306" cy="691287"/>
          </a:xfrm>
          <a:prstGeom prst="roundRect">
            <a:avLst/>
          </a:prstGeom>
          <a:solidFill>
            <a:srgbClr val="03AE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3">
            <a:extLst>
              <a:ext uri="{FF2B5EF4-FFF2-40B4-BE49-F238E27FC236}">
                <a16:creationId xmlns:a16="http://schemas.microsoft.com/office/drawing/2014/main" id="{E6C61C20-F270-ACD3-2641-7BBC636DD61E}"/>
              </a:ext>
            </a:extLst>
          </p:cNvPr>
          <p:cNvSpPr/>
          <p:nvPr/>
        </p:nvSpPr>
        <p:spPr>
          <a:xfrm>
            <a:off x="-3391297" y="-193655"/>
            <a:ext cx="5486282" cy="7040210"/>
          </a:xfrm>
          <a:prstGeom prst="rect">
            <a:avLst/>
          </a:prstGeom>
          <a:solidFill>
            <a:srgbClr val="FF9F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939E3087-6A4D-4FE0-03BB-7FF527355712}"/>
              </a:ext>
            </a:extLst>
          </p:cNvPr>
          <p:cNvSpPr/>
          <p:nvPr/>
        </p:nvSpPr>
        <p:spPr>
          <a:xfrm>
            <a:off x="1803624" y="2883685"/>
            <a:ext cx="855306" cy="691287"/>
          </a:xfrm>
          <a:prstGeom prst="roundRect">
            <a:avLst/>
          </a:prstGeom>
          <a:solidFill>
            <a:srgbClr val="FF9F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3">
            <a:extLst>
              <a:ext uri="{FF2B5EF4-FFF2-40B4-BE49-F238E27FC236}">
                <a16:creationId xmlns:a16="http://schemas.microsoft.com/office/drawing/2014/main" id="{B42A3E02-95F2-4F3F-81C6-8CDADFAD1A70}"/>
              </a:ext>
            </a:extLst>
          </p:cNvPr>
          <p:cNvSpPr/>
          <p:nvPr/>
        </p:nvSpPr>
        <p:spPr>
          <a:xfrm>
            <a:off x="-4282694" y="-179276"/>
            <a:ext cx="5486282" cy="7040209"/>
          </a:xfrm>
          <a:prstGeom prst="rect">
            <a:avLst/>
          </a:prstGeom>
          <a:solidFill>
            <a:srgbClr val="FFE5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B4F79D8-994D-7412-10CE-62D1604B845A}"/>
              </a:ext>
            </a:extLst>
          </p:cNvPr>
          <p:cNvSpPr/>
          <p:nvPr/>
        </p:nvSpPr>
        <p:spPr>
          <a:xfrm>
            <a:off x="940982" y="1877270"/>
            <a:ext cx="855306" cy="691287"/>
          </a:xfrm>
          <a:prstGeom prst="roundRect">
            <a:avLst/>
          </a:prstGeom>
          <a:solidFill>
            <a:srgbClr val="FFE5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C27A1ED-0D5C-4739-EF8B-5B991A27F8A9}"/>
              </a:ext>
            </a:extLst>
          </p:cNvPr>
          <p:cNvSpPr txBox="1"/>
          <p:nvPr/>
        </p:nvSpPr>
        <p:spPr>
          <a:xfrm>
            <a:off x="6235958" y="1437442"/>
            <a:ext cx="4929673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400" b="1">
                <a:latin typeface="Boucherie Block"/>
              </a:rPr>
              <a:t>PROJETO</a:t>
            </a:r>
          </a:p>
          <a:p>
            <a:pPr algn="ctr"/>
            <a:r>
              <a:rPr lang="pt-BR" sz="4400" b="1">
                <a:latin typeface="Boucherie Block"/>
              </a:rPr>
              <a:t>BINGO ELETRÔNICO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CDA50470-93A3-84A5-7D9E-0D87EED06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7638" y="2902787"/>
            <a:ext cx="1986954" cy="198695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BC510FC4-E881-6ADB-18B9-0FA7A7DC64B1}"/>
              </a:ext>
            </a:extLst>
          </p:cNvPr>
          <p:cNvSpPr txBox="1"/>
          <p:nvPr/>
        </p:nvSpPr>
        <p:spPr>
          <a:xfrm>
            <a:off x="5922591" y="5975406"/>
            <a:ext cx="555758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latin typeface="Bahnschrift"/>
              </a:rPr>
              <a:t>EQUIPE: Henrique Lôbo, Lucas Ariel, Helena Estrela, Carlos </a:t>
            </a:r>
            <a:r>
              <a:rPr lang="pt-BR">
                <a:latin typeface="Bahnschrift"/>
              </a:rPr>
              <a:t>Eduardo, Felipe Cunha.</a:t>
            </a:r>
            <a:endParaRPr lang="pt-BR" dirty="0">
              <a:latin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5A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269EC4-48C4-10A6-A9BC-6FC54A227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494FD20-4E11-0C61-8251-7F8077F32778}"/>
              </a:ext>
            </a:extLst>
          </p:cNvPr>
          <p:cNvSpPr/>
          <p:nvPr/>
        </p:nvSpPr>
        <p:spPr>
          <a:xfrm>
            <a:off x="3222289" y="-6750"/>
            <a:ext cx="7398470" cy="6867682"/>
          </a:xfrm>
          <a:prstGeom prst="rect">
            <a:avLst/>
          </a:prstGeom>
          <a:solidFill>
            <a:srgbClr val="460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A2FC12A-900B-1D5D-F18B-F66F373518B0}"/>
              </a:ext>
            </a:extLst>
          </p:cNvPr>
          <p:cNvSpPr/>
          <p:nvPr/>
        </p:nvSpPr>
        <p:spPr>
          <a:xfrm>
            <a:off x="10329398" y="5802289"/>
            <a:ext cx="855306" cy="691287"/>
          </a:xfrm>
          <a:prstGeom prst="roundRect">
            <a:avLst/>
          </a:prstGeom>
          <a:solidFill>
            <a:srgbClr val="460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3">
            <a:extLst>
              <a:ext uri="{FF2B5EF4-FFF2-40B4-BE49-F238E27FC236}">
                <a16:creationId xmlns:a16="http://schemas.microsoft.com/office/drawing/2014/main" id="{A8194743-058E-CB79-24E8-BBF651B3B438}"/>
              </a:ext>
            </a:extLst>
          </p:cNvPr>
          <p:cNvSpPr/>
          <p:nvPr/>
        </p:nvSpPr>
        <p:spPr>
          <a:xfrm>
            <a:off x="-1694769" y="-35505"/>
            <a:ext cx="5486282" cy="6882059"/>
          </a:xfrm>
          <a:prstGeom prst="rect">
            <a:avLst/>
          </a:prstGeom>
          <a:solidFill>
            <a:srgbClr val="E02C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4EBDC39F-C572-902E-25E5-0C10886FE68C}"/>
              </a:ext>
            </a:extLst>
          </p:cNvPr>
          <p:cNvSpPr/>
          <p:nvPr/>
        </p:nvSpPr>
        <p:spPr>
          <a:xfrm>
            <a:off x="3528906" y="4882137"/>
            <a:ext cx="855306" cy="691287"/>
          </a:xfrm>
          <a:prstGeom prst="roundRect">
            <a:avLst/>
          </a:prstGeom>
          <a:solidFill>
            <a:srgbClr val="E02C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3">
            <a:extLst>
              <a:ext uri="{FF2B5EF4-FFF2-40B4-BE49-F238E27FC236}">
                <a16:creationId xmlns:a16="http://schemas.microsoft.com/office/drawing/2014/main" id="{0C5A51EA-3C11-F209-FB9B-A7136B5E35E7}"/>
              </a:ext>
            </a:extLst>
          </p:cNvPr>
          <p:cNvSpPr/>
          <p:nvPr/>
        </p:nvSpPr>
        <p:spPr>
          <a:xfrm>
            <a:off x="-2514277" y="-193654"/>
            <a:ext cx="5486282" cy="7040210"/>
          </a:xfrm>
          <a:prstGeom prst="rect">
            <a:avLst/>
          </a:prstGeom>
          <a:solidFill>
            <a:srgbClr val="03AE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7EB2B63D-B57A-5B85-4647-916A1CFB402B}"/>
              </a:ext>
            </a:extLst>
          </p:cNvPr>
          <p:cNvSpPr/>
          <p:nvPr/>
        </p:nvSpPr>
        <p:spPr>
          <a:xfrm>
            <a:off x="2666266" y="3947610"/>
            <a:ext cx="855306" cy="691287"/>
          </a:xfrm>
          <a:prstGeom prst="roundRect">
            <a:avLst/>
          </a:prstGeom>
          <a:solidFill>
            <a:srgbClr val="03AE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3">
            <a:extLst>
              <a:ext uri="{FF2B5EF4-FFF2-40B4-BE49-F238E27FC236}">
                <a16:creationId xmlns:a16="http://schemas.microsoft.com/office/drawing/2014/main" id="{15ABD305-C072-6422-94F6-905C61CEAFCD}"/>
              </a:ext>
            </a:extLst>
          </p:cNvPr>
          <p:cNvSpPr/>
          <p:nvPr/>
        </p:nvSpPr>
        <p:spPr>
          <a:xfrm>
            <a:off x="-3391297" y="-193655"/>
            <a:ext cx="5486282" cy="7040210"/>
          </a:xfrm>
          <a:prstGeom prst="rect">
            <a:avLst/>
          </a:prstGeom>
          <a:solidFill>
            <a:srgbClr val="FF9F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87F81D9A-D25E-86BA-D909-3CABCBCAE869}"/>
              </a:ext>
            </a:extLst>
          </p:cNvPr>
          <p:cNvSpPr/>
          <p:nvPr/>
        </p:nvSpPr>
        <p:spPr>
          <a:xfrm>
            <a:off x="1803624" y="2883685"/>
            <a:ext cx="855306" cy="691287"/>
          </a:xfrm>
          <a:prstGeom prst="roundRect">
            <a:avLst/>
          </a:prstGeom>
          <a:solidFill>
            <a:srgbClr val="FF9F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3">
            <a:extLst>
              <a:ext uri="{FF2B5EF4-FFF2-40B4-BE49-F238E27FC236}">
                <a16:creationId xmlns:a16="http://schemas.microsoft.com/office/drawing/2014/main" id="{309CFA56-FBA6-967F-3655-933B74F95A6E}"/>
              </a:ext>
            </a:extLst>
          </p:cNvPr>
          <p:cNvSpPr/>
          <p:nvPr/>
        </p:nvSpPr>
        <p:spPr>
          <a:xfrm>
            <a:off x="-4282694" y="-179276"/>
            <a:ext cx="5486282" cy="7040209"/>
          </a:xfrm>
          <a:prstGeom prst="rect">
            <a:avLst/>
          </a:prstGeom>
          <a:solidFill>
            <a:srgbClr val="FFE5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33809DCE-93AF-9B34-ABF7-E53541211339}"/>
              </a:ext>
            </a:extLst>
          </p:cNvPr>
          <p:cNvSpPr/>
          <p:nvPr/>
        </p:nvSpPr>
        <p:spPr>
          <a:xfrm>
            <a:off x="940982" y="1877270"/>
            <a:ext cx="855306" cy="691287"/>
          </a:xfrm>
          <a:prstGeom prst="roundRect">
            <a:avLst/>
          </a:prstGeom>
          <a:solidFill>
            <a:srgbClr val="FFE5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055D0FF-A3B1-2482-DFB4-F2ED6D41C257}"/>
              </a:ext>
            </a:extLst>
          </p:cNvPr>
          <p:cNvSpPr txBox="1"/>
          <p:nvPr/>
        </p:nvSpPr>
        <p:spPr>
          <a:xfrm>
            <a:off x="5085183" y="1612904"/>
            <a:ext cx="3949959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>
                <a:solidFill>
                  <a:schemeClr val="bg1"/>
                </a:solidFill>
              </a:rPr>
              <a:t> </a:t>
            </a:r>
            <a:r>
              <a:rPr lang="pt-BR" dirty="0">
                <a:solidFill>
                  <a:schemeClr val="bg1"/>
                </a:solidFill>
                <a:latin typeface="Aptos Slab"/>
              </a:rPr>
              <a:t>Nosso projeto é de um </a:t>
            </a:r>
            <a:r>
              <a:rPr lang="pt-BR" b="1" dirty="0">
                <a:solidFill>
                  <a:schemeClr val="bg1"/>
                </a:solidFill>
                <a:latin typeface="Aptos Slab"/>
              </a:rPr>
              <a:t>Bingo Eletrônico</a:t>
            </a:r>
            <a:r>
              <a:rPr lang="pt-BR" dirty="0">
                <a:solidFill>
                  <a:schemeClr val="bg1"/>
                </a:solidFill>
                <a:latin typeface="Aptos Slab"/>
              </a:rPr>
              <a:t>, feito com Assembly. O software está divido em módulos, </a:t>
            </a:r>
            <a:r>
              <a:rPr lang="pt-BR">
                <a:solidFill>
                  <a:schemeClr val="bg1"/>
                </a:solidFill>
                <a:latin typeface="Aptos Slab"/>
              </a:rPr>
              <a:t>cada um com uma função específica:</a:t>
            </a:r>
            <a:endParaRPr lang="pt-BR" dirty="0">
              <a:solidFill>
                <a:schemeClr val="bg1"/>
              </a:solidFill>
              <a:latin typeface="Aptos Slab"/>
            </a:endParaRPr>
          </a:p>
          <a:p>
            <a:pPr marL="285750" indent="-285750">
              <a:buFont typeface="Arial"/>
              <a:buChar char="•"/>
            </a:pPr>
            <a:r>
              <a:rPr lang="pt-BR">
                <a:solidFill>
                  <a:schemeClr val="bg1"/>
                </a:solidFill>
                <a:latin typeface="Aptos Slab"/>
              </a:rPr>
              <a:t>DELAYS</a:t>
            </a:r>
            <a:endParaRPr lang="pt-BR" dirty="0">
              <a:solidFill>
                <a:schemeClr val="bg1"/>
              </a:solidFill>
              <a:latin typeface="Aptos Slab"/>
            </a:endParaRPr>
          </a:p>
          <a:p>
            <a:pPr marL="285750" indent="-285750">
              <a:buFont typeface="Arial"/>
              <a:buChar char="•"/>
            </a:pPr>
            <a:r>
              <a:rPr lang="pt-BR">
                <a:solidFill>
                  <a:schemeClr val="bg1"/>
                </a:solidFill>
                <a:latin typeface="Aptos Slab"/>
              </a:rPr>
              <a:t>DISPLAYS</a:t>
            </a:r>
            <a:endParaRPr lang="pt-BR" dirty="0">
              <a:solidFill>
                <a:schemeClr val="bg1"/>
              </a:solidFill>
              <a:latin typeface="Aptos Slab"/>
            </a:endParaRPr>
          </a:p>
          <a:p>
            <a:pPr marL="285750" indent="-285750">
              <a:buFont typeface="Arial"/>
              <a:buChar char="•"/>
            </a:pPr>
            <a:r>
              <a:rPr lang="pt-BR">
                <a:solidFill>
                  <a:schemeClr val="bg1"/>
                </a:solidFill>
                <a:latin typeface="Aptos Slab"/>
              </a:rPr>
              <a:t>VARIÁVEIS GLOBAIS</a:t>
            </a:r>
          </a:p>
          <a:p>
            <a:pPr marL="285750" indent="-285750">
              <a:buFont typeface="Arial"/>
              <a:buChar char="•"/>
            </a:pPr>
            <a:r>
              <a:rPr lang="pt-BR">
                <a:solidFill>
                  <a:schemeClr val="bg1"/>
                </a:solidFill>
                <a:latin typeface="Aptos Slab"/>
              </a:rPr>
              <a:t>HARDWARE</a:t>
            </a:r>
          </a:p>
          <a:p>
            <a:pPr marL="285750" indent="-285750">
              <a:buFont typeface="Arial"/>
              <a:buChar char="•"/>
            </a:pPr>
            <a:r>
              <a:rPr lang="pt-BR">
                <a:solidFill>
                  <a:schemeClr val="bg1"/>
                </a:solidFill>
                <a:latin typeface="Aptos Slab"/>
              </a:rPr>
              <a:t>POWER</a:t>
            </a:r>
          </a:p>
          <a:p>
            <a:pPr marL="285750" indent="-285750">
              <a:buFont typeface="Arial"/>
              <a:buChar char="•"/>
            </a:pPr>
            <a:r>
              <a:rPr lang="pt-BR">
                <a:solidFill>
                  <a:schemeClr val="bg1"/>
                </a:solidFill>
                <a:latin typeface="Aptos Slab"/>
              </a:rPr>
              <a:t>REGRAS</a:t>
            </a:r>
          </a:p>
          <a:p>
            <a:pPr marL="285750" indent="-285750">
              <a:buFont typeface="Arial"/>
              <a:buChar char="•"/>
            </a:pPr>
            <a:r>
              <a:rPr lang="pt-BR">
                <a:solidFill>
                  <a:schemeClr val="bg1"/>
                </a:solidFill>
                <a:latin typeface="Aptos Slab"/>
              </a:rPr>
              <a:t>SORTEIO</a:t>
            </a:r>
          </a:p>
          <a:p>
            <a:pPr marL="285750" indent="-285750">
              <a:buFont typeface="Arial"/>
              <a:buChar char="•"/>
            </a:pPr>
            <a:r>
              <a:rPr lang="pt-BR">
                <a:solidFill>
                  <a:schemeClr val="bg1"/>
                </a:solidFill>
                <a:latin typeface="Aptos Slab"/>
              </a:rPr>
              <a:t>MAIN</a:t>
            </a:r>
            <a:endParaRPr lang="pt-BR" dirty="0">
              <a:solidFill>
                <a:schemeClr val="bg1"/>
              </a:solidFill>
              <a:latin typeface="Aptos Slab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447B285-5911-2631-9756-07F810FADD5B}"/>
              </a:ext>
            </a:extLst>
          </p:cNvPr>
          <p:cNvSpPr txBox="1"/>
          <p:nvPr/>
        </p:nvSpPr>
        <p:spPr>
          <a:xfrm>
            <a:off x="5831338" y="607664"/>
            <a:ext cx="244473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b="1">
                <a:solidFill>
                  <a:schemeClr val="bg1"/>
                </a:solidFill>
              </a:rPr>
              <a:t>DESCRIÇÃO GERAL</a:t>
            </a:r>
            <a:endParaRPr lang="pt-BR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8807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5A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474C0A-2F82-DF02-89B3-524011F21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C9763A7F-2509-2109-B5E7-021EF58414D3}"/>
              </a:ext>
            </a:extLst>
          </p:cNvPr>
          <p:cNvSpPr/>
          <p:nvPr/>
        </p:nvSpPr>
        <p:spPr>
          <a:xfrm>
            <a:off x="3222289" y="-6750"/>
            <a:ext cx="7398470" cy="6867682"/>
          </a:xfrm>
          <a:prstGeom prst="rect">
            <a:avLst/>
          </a:prstGeom>
          <a:solidFill>
            <a:srgbClr val="460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48AE60FD-06EC-BC9D-8D02-30EF3C16DE31}"/>
              </a:ext>
            </a:extLst>
          </p:cNvPr>
          <p:cNvSpPr/>
          <p:nvPr/>
        </p:nvSpPr>
        <p:spPr>
          <a:xfrm>
            <a:off x="10329398" y="5802289"/>
            <a:ext cx="855306" cy="691287"/>
          </a:xfrm>
          <a:prstGeom prst="roundRect">
            <a:avLst/>
          </a:prstGeom>
          <a:solidFill>
            <a:srgbClr val="460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3">
            <a:extLst>
              <a:ext uri="{FF2B5EF4-FFF2-40B4-BE49-F238E27FC236}">
                <a16:creationId xmlns:a16="http://schemas.microsoft.com/office/drawing/2014/main" id="{C5BC554F-99AB-D53A-DCA1-C8DE837B947A}"/>
              </a:ext>
            </a:extLst>
          </p:cNvPr>
          <p:cNvSpPr/>
          <p:nvPr/>
        </p:nvSpPr>
        <p:spPr>
          <a:xfrm>
            <a:off x="993797" y="-6750"/>
            <a:ext cx="8778697" cy="6882059"/>
          </a:xfrm>
          <a:prstGeom prst="rect">
            <a:avLst/>
          </a:prstGeom>
          <a:solidFill>
            <a:srgbClr val="E02C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185B33F9-107A-8DC4-1E4B-789CF1E51F2D}"/>
              </a:ext>
            </a:extLst>
          </p:cNvPr>
          <p:cNvSpPr/>
          <p:nvPr/>
        </p:nvSpPr>
        <p:spPr>
          <a:xfrm>
            <a:off x="9466755" y="4896514"/>
            <a:ext cx="855306" cy="691287"/>
          </a:xfrm>
          <a:prstGeom prst="roundRect">
            <a:avLst/>
          </a:prstGeom>
          <a:solidFill>
            <a:srgbClr val="E02C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3">
            <a:extLst>
              <a:ext uri="{FF2B5EF4-FFF2-40B4-BE49-F238E27FC236}">
                <a16:creationId xmlns:a16="http://schemas.microsoft.com/office/drawing/2014/main" id="{6A3ECABF-F9A7-B7AC-5C98-6D5F1087251E}"/>
              </a:ext>
            </a:extLst>
          </p:cNvPr>
          <p:cNvSpPr/>
          <p:nvPr/>
        </p:nvSpPr>
        <p:spPr>
          <a:xfrm>
            <a:off x="-2514277" y="-193654"/>
            <a:ext cx="5486282" cy="7040210"/>
          </a:xfrm>
          <a:prstGeom prst="rect">
            <a:avLst/>
          </a:prstGeom>
          <a:solidFill>
            <a:srgbClr val="03AE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C62F01EA-89DB-ED92-7E82-11357DB1725F}"/>
              </a:ext>
            </a:extLst>
          </p:cNvPr>
          <p:cNvSpPr/>
          <p:nvPr/>
        </p:nvSpPr>
        <p:spPr>
          <a:xfrm>
            <a:off x="2666266" y="3947610"/>
            <a:ext cx="855306" cy="691287"/>
          </a:xfrm>
          <a:prstGeom prst="roundRect">
            <a:avLst/>
          </a:prstGeom>
          <a:solidFill>
            <a:srgbClr val="03AE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3">
            <a:extLst>
              <a:ext uri="{FF2B5EF4-FFF2-40B4-BE49-F238E27FC236}">
                <a16:creationId xmlns:a16="http://schemas.microsoft.com/office/drawing/2014/main" id="{5D64B9AC-EE8D-E0AD-34F5-C16D6FE7D5C2}"/>
              </a:ext>
            </a:extLst>
          </p:cNvPr>
          <p:cNvSpPr/>
          <p:nvPr/>
        </p:nvSpPr>
        <p:spPr>
          <a:xfrm>
            <a:off x="-3391297" y="-193655"/>
            <a:ext cx="5486282" cy="7040210"/>
          </a:xfrm>
          <a:prstGeom prst="rect">
            <a:avLst/>
          </a:prstGeom>
          <a:solidFill>
            <a:srgbClr val="FF9F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E60BDBC-8C1D-DC4F-19C7-C2DDFFD02177}"/>
              </a:ext>
            </a:extLst>
          </p:cNvPr>
          <p:cNvSpPr/>
          <p:nvPr/>
        </p:nvSpPr>
        <p:spPr>
          <a:xfrm>
            <a:off x="1803624" y="2883685"/>
            <a:ext cx="855306" cy="691287"/>
          </a:xfrm>
          <a:prstGeom prst="roundRect">
            <a:avLst/>
          </a:prstGeom>
          <a:solidFill>
            <a:srgbClr val="FF9F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3">
            <a:extLst>
              <a:ext uri="{FF2B5EF4-FFF2-40B4-BE49-F238E27FC236}">
                <a16:creationId xmlns:a16="http://schemas.microsoft.com/office/drawing/2014/main" id="{B2A314BE-E356-F0DC-A732-DA66DD7EF976}"/>
              </a:ext>
            </a:extLst>
          </p:cNvPr>
          <p:cNvSpPr/>
          <p:nvPr/>
        </p:nvSpPr>
        <p:spPr>
          <a:xfrm>
            <a:off x="-4282694" y="-179276"/>
            <a:ext cx="5486282" cy="7040209"/>
          </a:xfrm>
          <a:prstGeom prst="rect">
            <a:avLst/>
          </a:prstGeom>
          <a:solidFill>
            <a:srgbClr val="FFE5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9E35AA39-7476-314C-3B91-8DA1F5C182C4}"/>
              </a:ext>
            </a:extLst>
          </p:cNvPr>
          <p:cNvSpPr/>
          <p:nvPr/>
        </p:nvSpPr>
        <p:spPr>
          <a:xfrm>
            <a:off x="940982" y="1877270"/>
            <a:ext cx="855306" cy="691287"/>
          </a:xfrm>
          <a:prstGeom prst="roundRect">
            <a:avLst/>
          </a:prstGeom>
          <a:solidFill>
            <a:srgbClr val="FFE5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DB72FF8-4712-6798-9F51-4DD64A61980E}"/>
              </a:ext>
            </a:extLst>
          </p:cNvPr>
          <p:cNvSpPr txBox="1"/>
          <p:nvPr/>
        </p:nvSpPr>
        <p:spPr>
          <a:xfrm>
            <a:off x="4402113" y="1172488"/>
            <a:ext cx="4494244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chemeClr val="bg1"/>
                </a:solidFill>
              </a:rPr>
              <a:t>DELAYS</a:t>
            </a:r>
          </a:p>
          <a:p>
            <a:r>
              <a:rPr lang="pt-BR">
                <a:solidFill>
                  <a:schemeClr val="bg1"/>
                </a:solidFill>
                <a:latin typeface="Aptos Slab"/>
                <a:ea typeface="+mn-lt"/>
                <a:cs typeface="+mn-lt"/>
              </a:rPr>
              <a:t>A rotina de delays contempla tanto delays para lidar com o ruído, tanto quanto para controlar o ritmo das exibições no display.</a:t>
            </a:r>
            <a:endParaRPr lang="pt-BR">
              <a:solidFill>
                <a:schemeClr val="bg1"/>
              </a:solidFill>
              <a:latin typeface="Aptos Slab"/>
            </a:endParaRP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b="1">
                <a:solidFill>
                  <a:schemeClr val="bg1"/>
                </a:solidFill>
              </a:rPr>
              <a:t>DISPLAYS</a:t>
            </a:r>
            <a:endParaRPr lang="pt-BR" b="1" dirty="0">
              <a:solidFill>
                <a:schemeClr val="bg1"/>
              </a:solidFill>
            </a:endParaRPr>
          </a:p>
          <a:p>
            <a:r>
              <a:rPr lang="pt-BR">
                <a:solidFill>
                  <a:schemeClr val="bg1"/>
                </a:solidFill>
                <a:latin typeface="Aptos Slab"/>
                <a:ea typeface="+mn-lt"/>
                <a:cs typeface="+mn-lt"/>
              </a:rPr>
              <a:t>Aqui, será resgatado o número sorteado para separar a dezena e a unidade,</a:t>
            </a:r>
            <a:endParaRPr lang="pt-BR">
              <a:solidFill>
                <a:schemeClr val="bg1"/>
              </a:solidFill>
              <a:latin typeface="Aptos Slab"/>
            </a:endParaRPr>
          </a:p>
          <a:p>
            <a:r>
              <a:rPr lang="pt-BR">
                <a:solidFill>
                  <a:schemeClr val="bg1"/>
                </a:solidFill>
                <a:latin typeface="Aptos Slab"/>
                <a:ea typeface="+mn-lt"/>
                <a:cs typeface="+mn-lt"/>
              </a:rPr>
              <a:t>determinar quais LEDs do display vão acender para formar esse desenho e preparar a exibição.</a:t>
            </a:r>
            <a:endParaRPr lang="pt-BR">
              <a:solidFill>
                <a:schemeClr val="bg1"/>
              </a:solidFill>
              <a:latin typeface="Aptos Slab"/>
            </a:endParaRP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b="1">
                <a:solidFill>
                  <a:schemeClr val="bg1"/>
                </a:solidFill>
              </a:rPr>
              <a:t>VARIÁVEIS GLOBAIS</a:t>
            </a:r>
          </a:p>
          <a:p>
            <a:r>
              <a:rPr lang="pt-BR">
                <a:solidFill>
                  <a:schemeClr val="bg1"/>
                </a:solidFill>
                <a:latin typeface="Aptos Slab"/>
              </a:rPr>
              <a:t>Este é o dicionário do sistema, onde contém a definição dos pinos, dos registradores e da memória SRAM.</a:t>
            </a:r>
          </a:p>
        </p:txBody>
      </p:sp>
    </p:spTree>
    <p:extLst>
      <p:ext uri="{BB962C8B-B14F-4D97-AF65-F5344CB8AC3E}">
        <p14:creationId xmlns:p14="http://schemas.microsoft.com/office/powerpoint/2010/main" val="82431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5A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C85F23-F64C-DFFD-CB41-6017BBB10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E9190F0-ADD6-DCF8-68BA-2242BBCD4772}"/>
              </a:ext>
            </a:extLst>
          </p:cNvPr>
          <p:cNvSpPr/>
          <p:nvPr/>
        </p:nvSpPr>
        <p:spPr>
          <a:xfrm>
            <a:off x="3222289" y="-6750"/>
            <a:ext cx="7398470" cy="6867682"/>
          </a:xfrm>
          <a:prstGeom prst="rect">
            <a:avLst/>
          </a:prstGeom>
          <a:solidFill>
            <a:srgbClr val="460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AC4264F-1C58-9042-7A63-A7791D3429C2}"/>
              </a:ext>
            </a:extLst>
          </p:cNvPr>
          <p:cNvSpPr/>
          <p:nvPr/>
        </p:nvSpPr>
        <p:spPr>
          <a:xfrm>
            <a:off x="10329398" y="5802289"/>
            <a:ext cx="855306" cy="691287"/>
          </a:xfrm>
          <a:prstGeom prst="roundRect">
            <a:avLst/>
          </a:prstGeom>
          <a:solidFill>
            <a:srgbClr val="460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3">
            <a:extLst>
              <a:ext uri="{FF2B5EF4-FFF2-40B4-BE49-F238E27FC236}">
                <a16:creationId xmlns:a16="http://schemas.microsoft.com/office/drawing/2014/main" id="{5A801B8A-3D85-2B37-AE1D-6EDD0B711803}"/>
              </a:ext>
            </a:extLst>
          </p:cNvPr>
          <p:cNvSpPr/>
          <p:nvPr/>
        </p:nvSpPr>
        <p:spPr>
          <a:xfrm>
            <a:off x="993797" y="-6750"/>
            <a:ext cx="8778697" cy="6882059"/>
          </a:xfrm>
          <a:prstGeom prst="rect">
            <a:avLst/>
          </a:prstGeom>
          <a:solidFill>
            <a:srgbClr val="E02C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AD2EEFEC-951A-B513-080A-A4E03EC29F5F}"/>
              </a:ext>
            </a:extLst>
          </p:cNvPr>
          <p:cNvSpPr/>
          <p:nvPr/>
        </p:nvSpPr>
        <p:spPr>
          <a:xfrm>
            <a:off x="9466755" y="4896514"/>
            <a:ext cx="855306" cy="691287"/>
          </a:xfrm>
          <a:prstGeom prst="roundRect">
            <a:avLst/>
          </a:prstGeom>
          <a:solidFill>
            <a:srgbClr val="E02C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3">
            <a:extLst>
              <a:ext uri="{FF2B5EF4-FFF2-40B4-BE49-F238E27FC236}">
                <a16:creationId xmlns:a16="http://schemas.microsoft.com/office/drawing/2014/main" id="{C25FDCDC-C9BE-6E2D-05EA-DB5AF9B9E4AD}"/>
              </a:ext>
            </a:extLst>
          </p:cNvPr>
          <p:cNvSpPr/>
          <p:nvPr/>
        </p:nvSpPr>
        <p:spPr>
          <a:xfrm>
            <a:off x="-2514277" y="-193654"/>
            <a:ext cx="5486282" cy="7040210"/>
          </a:xfrm>
          <a:prstGeom prst="rect">
            <a:avLst/>
          </a:prstGeom>
          <a:solidFill>
            <a:srgbClr val="03AE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B5DAB57-8BB0-A371-755F-451E0E9F9457}"/>
              </a:ext>
            </a:extLst>
          </p:cNvPr>
          <p:cNvSpPr/>
          <p:nvPr/>
        </p:nvSpPr>
        <p:spPr>
          <a:xfrm>
            <a:off x="2666266" y="3947610"/>
            <a:ext cx="855306" cy="691287"/>
          </a:xfrm>
          <a:prstGeom prst="roundRect">
            <a:avLst/>
          </a:prstGeom>
          <a:solidFill>
            <a:srgbClr val="03AE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3">
            <a:extLst>
              <a:ext uri="{FF2B5EF4-FFF2-40B4-BE49-F238E27FC236}">
                <a16:creationId xmlns:a16="http://schemas.microsoft.com/office/drawing/2014/main" id="{D90DFF6E-BD59-170D-D76B-96BF97592A78}"/>
              </a:ext>
            </a:extLst>
          </p:cNvPr>
          <p:cNvSpPr/>
          <p:nvPr/>
        </p:nvSpPr>
        <p:spPr>
          <a:xfrm>
            <a:off x="-3391297" y="-193655"/>
            <a:ext cx="5486282" cy="7040210"/>
          </a:xfrm>
          <a:prstGeom prst="rect">
            <a:avLst/>
          </a:prstGeom>
          <a:solidFill>
            <a:srgbClr val="FF9F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CAEB6A5E-96C3-5FE4-C03F-37693EA7C1B6}"/>
              </a:ext>
            </a:extLst>
          </p:cNvPr>
          <p:cNvSpPr/>
          <p:nvPr/>
        </p:nvSpPr>
        <p:spPr>
          <a:xfrm>
            <a:off x="1803624" y="2883685"/>
            <a:ext cx="855306" cy="691287"/>
          </a:xfrm>
          <a:prstGeom prst="roundRect">
            <a:avLst/>
          </a:prstGeom>
          <a:solidFill>
            <a:srgbClr val="FF9F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3">
            <a:extLst>
              <a:ext uri="{FF2B5EF4-FFF2-40B4-BE49-F238E27FC236}">
                <a16:creationId xmlns:a16="http://schemas.microsoft.com/office/drawing/2014/main" id="{888B6267-5D50-7107-A994-741F426868B9}"/>
              </a:ext>
            </a:extLst>
          </p:cNvPr>
          <p:cNvSpPr/>
          <p:nvPr/>
        </p:nvSpPr>
        <p:spPr>
          <a:xfrm>
            <a:off x="-4282694" y="-179276"/>
            <a:ext cx="5486282" cy="7040209"/>
          </a:xfrm>
          <a:prstGeom prst="rect">
            <a:avLst/>
          </a:prstGeom>
          <a:solidFill>
            <a:srgbClr val="FFE5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6B126CCC-E233-F40B-AC25-73F291A738F0}"/>
              </a:ext>
            </a:extLst>
          </p:cNvPr>
          <p:cNvSpPr/>
          <p:nvPr/>
        </p:nvSpPr>
        <p:spPr>
          <a:xfrm>
            <a:off x="940982" y="1877270"/>
            <a:ext cx="855306" cy="691287"/>
          </a:xfrm>
          <a:prstGeom prst="roundRect">
            <a:avLst/>
          </a:prstGeom>
          <a:solidFill>
            <a:srgbClr val="FFE5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9B4AE24-CA39-B9F6-66BE-9FA3D239D124}"/>
              </a:ext>
            </a:extLst>
          </p:cNvPr>
          <p:cNvSpPr txBox="1"/>
          <p:nvPr/>
        </p:nvSpPr>
        <p:spPr>
          <a:xfrm>
            <a:off x="4301472" y="798677"/>
            <a:ext cx="4494244" cy="53553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chemeClr val="bg1"/>
                </a:solidFill>
              </a:rPr>
              <a:t>DELAYS</a:t>
            </a:r>
          </a:p>
          <a:p>
            <a:r>
              <a:rPr lang="pt-BR">
                <a:solidFill>
                  <a:srgbClr val="FFFFFF"/>
                </a:solidFill>
                <a:latin typeface="Aptos Slab"/>
                <a:ea typeface="+mn-lt"/>
                <a:cs typeface="+mn-lt"/>
              </a:rPr>
              <a:t>SBRC    TEMP, 0</a:t>
            </a:r>
            <a:endParaRPr lang="pt-BR"/>
          </a:p>
          <a:p>
            <a:r>
              <a:rPr lang="pt-BR" dirty="0">
                <a:solidFill>
                  <a:srgbClr val="FFFFFF"/>
                </a:solidFill>
                <a:latin typeface="Aptos Slab"/>
              </a:rPr>
              <a:t>RJMP    </a:t>
            </a:r>
            <a:r>
              <a:rPr lang="pt-BR" dirty="0" err="1">
                <a:solidFill>
                  <a:srgbClr val="FFFFFF"/>
                </a:solidFill>
                <a:latin typeface="Aptos Slab"/>
              </a:rPr>
              <a:t>debounce_reset</a:t>
            </a:r>
            <a:endParaRPr lang="pt-BR" dirty="0" err="1"/>
          </a:p>
          <a:p>
            <a:r>
              <a:rPr lang="pt-BR">
                <a:solidFill>
                  <a:srgbClr val="FFFFFF"/>
                </a:solidFill>
                <a:latin typeface="Aptos Slab"/>
              </a:rPr>
              <a:t>DEC     r26</a:t>
            </a:r>
            <a:endParaRPr lang="pt-BR"/>
          </a:p>
          <a:p>
            <a:r>
              <a:rPr lang="pt-BR" dirty="0">
                <a:solidFill>
                  <a:srgbClr val="FFFFFF"/>
                </a:solidFill>
                <a:latin typeface="Aptos Slab"/>
              </a:rPr>
              <a:t>BRNE    </a:t>
            </a:r>
            <a:r>
              <a:rPr lang="pt-BR" dirty="0" err="1">
                <a:solidFill>
                  <a:srgbClr val="FFFFFF"/>
                </a:solidFill>
                <a:latin typeface="Aptos Slab"/>
              </a:rPr>
              <a:t>debounce_loop</a:t>
            </a:r>
            <a:endParaRPr lang="pt-BR" dirty="0" err="1"/>
          </a:p>
          <a:p>
            <a:r>
              <a:rPr lang="pt-BR">
                <a:solidFill>
                  <a:schemeClr val="bg1"/>
                </a:solidFill>
                <a:latin typeface="Aptos Slab"/>
              </a:rPr>
              <a:t>SEC</a:t>
            </a:r>
            <a:endParaRPr lang="pt-BR" dirty="0">
              <a:solidFill>
                <a:schemeClr val="bg1"/>
              </a:solidFill>
              <a:latin typeface="Aptos Slab"/>
            </a:endParaRPr>
          </a:p>
          <a:p>
            <a:r>
              <a:rPr lang="pt-BR">
                <a:solidFill>
                  <a:schemeClr val="bg1"/>
                </a:solidFill>
                <a:latin typeface="Aptos Slab"/>
              </a:rPr>
              <a:t>RET</a:t>
            </a:r>
            <a:endParaRPr lang="pt-BR" dirty="0">
              <a:solidFill>
                <a:schemeClr val="bg1"/>
              </a:solidFill>
              <a:latin typeface="Aptos Slab"/>
            </a:endParaRP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b="1">
                <a:solidFill>
                  <a:schemeClr val="bg1"/>
                </a:solidFill>
              </a:rPr>
              <a:t>DISPLAYS</a:t>
            </a:r>
            <a:endParaRPr lang="pt-BR" b="1" dirty="0">
              <a:solidFill>
                <a:schemeClr val="bg1"/>
              </a:solidFill>
            </a:endParaRPr>
          </a:p>
          <a:p>
            <a:r>
              <a:rPr lang="pt-BR">
                <a:solidFill>
                  <a:schemeClr val="bg1"/>
                </a:solidFill>
                <a:latin typeface="Aptos Slab"/>
                <a:ea typeface="+mn-lt"/>
                <a:cs typeface="+mn-lt"/>
              </a:rPr>
              <a:t>Aqui, será resgatado o número sorteado para separar a dezena e a unidade,</a:t>
            </a:r>
            <a:endParaRPr lang="pt-BR">
              <a:solidFill>
                <a:schemeClr val="bg1"/>
              </a:solidFill>
              <a:latin typeface="Aptos Slab"/>
            </a:endParaRPr>
          </a:p>
          <a:p>
            <a:r>
              <a:rPr lang="pt-BR">
                <a:solidFill>
                  <a:schemeClr val="bg1"/>
                </a:solidFill>
                <a:latin typeface="Aptos Slab"/>
                <a:ea typeface="+mn-lt"/>
                <a:cs typeface="+mn-lt"/>
              </a:rPr>
              <a:t>determinar quais LEDs do display vão acender para formar esse desenho e preparar a exibição.</a:t>
            </a:r>
            <a:endParaRPr lang="pt-BR">
              <a:solidFill>
                <a:schemeClr val="bg1"/>
              </a:solidFill>
              <a:latin typeface="Aptos Slab"/>
            </a:endParaRP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b="1">
                <a:solidFill>
                  <a:schemeClr val="bg1"/>
                </a:solidFill>
              </a:rPr>
              <a:t>VARIÁVEIS GLOBAIS</a:t>
            </a:r>
          </a:p>
          <a:p>
            <a:r>
              <a:rPr lang="pt-BR">
                <a:solidFill>
                  <a:schemeClr val="bg1"/>
                </a:solidFill>
                <a:latin typeface="Aptos Slab"/>
              </a:rPr>
              <a:t>Este é o dicionário do sistema, onde contém a definição dos pinos, dos registradores e da memória SRAM.</a:t>
            </a:r>
          </a:p>
        </p:txBody>
      </p:sp>
    </p:spTree>
    <p:extLst>
      <p:ext uri="{BB962C8B-B14F-4D97-AF65-F5344CB8AC3E}">
        <p14:creationId xmlns:p14="http://schemas.microsoft.com/office/powerpoint/2010/main" val="18497882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5A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4E24A2-95E1-47B9-644D-61F0B6F52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4E7336A2-AC80-9E15-4E73-5BAE7D57F200}"/>
              </a:ext>
            </a:extLst>
          </p:cNvPr>
          <p:cNvSpPr/>
          <p:nvPr/>
        </p:nvSpPr>
        <p:spPr>
          <a:xfrm>
            <a:off x="3222289" y="-6750"/>
            <a:ext cx="7398470" cy="6867682"/>
          </a:xfrm>
          <a:prstGeom prst="rect">
            <a:avLst/>
          </a:prstGeom>
          <a:solidFill>
            <a:srgbClr val="460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166FED3-8E1F-1D6E-48C5-9E039E3ADCDD}"/>
              </a:ext>
            </a:extLst>
          </p:cNvPr>
          <p:cNvSpPr/>
          <p:nvPr/>
        </p:nvSpPr>
        <p:spPr>
          <a:xfrm>
            <a:off x="10329398" y="5802289"/>
            <a:ext cx="855306" cy="691287"/>
          </a:xfrm>
          <a:prstGeom prst="roundRect">
            <a:avLst/>
          </a:prstGeom>
          <a:solidFill>
            <a:srgbClr val="460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3">
            <a:extLst>
              <a:ext uri="{FF2B5EF4-FFF2-40B4-BE49-F238E27FC236}">
                <a16:creationId xmlns:a16="http://schemas.microsoft.com/office/drawing/2014/main" id="{B90E306C-60A4-1B6B-2CEC-7303E8B8F6E8}"/>
              </a:ext>
            </a:extLst>
          </p:cNvPr>
          <p:cNvSpPr/>
          <p:nvPr/>
        </p:nvSpPr>
        <p:spPr>
          <a:xfrm>
            <a:off x="993797" y="-6750"/>
            <a:ext cx="8778697" cy="6882059"/>
          </a:xfrm>
          <a:prstGeom prst="rect">
            <a:avLst/>
          </a:prstGeom>
          <a:solidFill>
            <a:srgbClr val="E02C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A61C82C-5996-3DE0-586E-37D6043F5927}"/>
              </a:ext>
            </a:extLst>
          </p:cNvPr>
          <p:cNvSpPr/>
          <p:nvPr/>
        </p:nvSpPr>
        <p:spPr>
          <a:xfrm>
            <a:off x="9466755" y="4896514"/>
            <a:ext cx="855306" cy="691287"/>
          </a:xfrm>
          <a:prstGeom prst="roundRect">
            <a:avLst/>
          </a:prstGeom>
          <a:solidFill>
            <a:srgbClr val="E02C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3">
            <a:extLst>
              <a:ext uri="{FF2B5EF4-FFF2-40B4-BE49-F238E27FC236}">
                <a16:creationId xmlns:a16="http://schemas.microsoft.com/office/drawing/2014/main" id="{0C6B5542-CE2F-EFFA-81E7-3608F273BBBF}"/>
              </a:ext>
            </a:extLst>
          </p:cNvPr>
          <p:cNvSpPr/>
          <p:nvPr/>
        </p:nvSpPr>
        <p:spPr>
          <a:xfrm>
            <a:off x="-2514277" y="-193654"/>
            <a:ext cx="5486282" cy="7040210"/>
          </a:xfrm>
          <a:prstGeom prst="rect">
            <a:avLst/>
          </a:prstGeom>
          <a:solidFill>
            <a:srgbClr val="03AE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2709515-2A4F-E92B-B0BB-E1EE6B9770E3}"/>
              </a:ext>
            </a:extLst>
          </p:cNvPr>
          <p:cNvSpPr/>
          <p:nvPr/>
        </p:nvSpPr>
        <p:spPr>
          <a:xfrm>
            <a:off x="2666266" y="3947610"/>
            <a:ext cx="855306" cy="691287"/>
          </a:xfrm>
          <a:prstGeom prst="roundRect">
            <a:avLst/>
          </a:prstGeom>
          <a:solidFill>
            <a:srgbClr val="03AE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3">
            <a:extLst>
              <a:ext uri="{FF2B5EF4-FFF2-40B4-BE49-F238E27FC236}">
                <a16:creationId xmlns:a16="http://schemas.microsoft.com/office/drawing/2014/main" id="{1F9ADF46-5B18-2FAE-D202-ADC52E961B90}"/>
              </a:ext>
            </a:extLst>
          </p:cNvPr>
          <p:cNvSpPr/>
          <p:nvPr/>
        </p:nvSpPr>
        <p:spPr>
          <a:xfrm>
            <a:off x="-3391297" y="-193655"/>
            <a:ext cx="5486282" cy="7040210"/>
          </a:xfrm>
          <a:prstGeom prst="rect">
            <a:avLst/>
          </a:prstGeom>
          <a:solidFill>
            <a:srgbClr val="FF9F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8676E970-8AF5-82F3-31EF-0B3A7BCE7434}"/>
              </a:ext>
            </a:extLst>
          </p:cNvPr>
          <p:cNvSpPr/>
          <p:nvPr/>
        </p:nvSpPr>
        <p:spPr>
          <a:xfrm>
            <a:off x="1803624" y="2883685"/>
            <a:ext cx="855306" cy="691287"/>
          </a:xfrm>
          <a:prstGeom prst="roundRect">
            <a:avLst/>
          </a:prstGeom>
          <a:solidFill>
            <a:srgbClr val="FF9F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3">
            <a:extLst>
              <a:ext uri="{FF2B5EF4-FFF2-40B4-BE49-F238E27FC236}">
                <a16:creationId xmlns:a16="http://schemas.microsoft.com/office/drawing/2014/main" id="{E9009F62-2BB6-DA7C-2CDD-F65F6D0FC0EA}"/>
              </a:ext>
            </a:extLst>
          </p:cNvPr>
          <p:cNvSpPr/>
          <p:nvPr/>
        </p:nvSpPr>
        <p:spPr>
          <a:xfrm>
            <a:off x="-4282694" y="-179276"/>
            <a:ext cx="5486282" cy="7040209"/>
          </a:xfrm>
          <a:prstGeom prst="rect">
            <a:avLst/>
          </a:prstGeom>
          <a:solidFill>
            <a:srgbClr val="FFE5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0144B239-135A-97DD-7B42-09126B4F8475}"/>
              </a:ext>
            </a:extLst>
          </p:cNvPr>
          <p:cNvSpPr/>
          <p:nvPr/>
        </p:nvSpPr>
        <p:spPr>
          <a:xfrm>
            <a:off x="940982" y="1877270"/>
            <a:ext cx="855306" cy="691287"/>
          </a:xfrm>
          <a:prstGeom prst="roundRect">
            <a:avLst/>
          </a:prstGeom>
          <a:solidFill>
            <a:srgbClr val="FFE5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3E6B971-D93F-C898-B05D-287330F37D75}"/>
              </a:ext>
            </a:extLst>
          </p:cNvPr>
          <p:cNvSpPr txBox="1"/>
          <p:nvPr/>
        </p:nvSpPr>
        <p:spPr>
          <a:xfrm>
            <a:off x="4416490" y="1287507"/>
            <a:ext cx="4494244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chemeClr val="bg1"/>
                </a:solidFill>
              </a:rPr>
              <a:t>DELAYS</a:t>
            </a:r>
          </a:p>
          <a:p>
            <a:r>
              <a:rPr lang="pt-BR">
                <a:solidFill>
                  <a:schemeClr val="bg1"/>
                </a:solidFill>
                <a:latin typeface="Aptos Slab"/>
                <a:ea typeface="+mn-lt"/>
                <a:cs typeface="+mn-lt"/>
              </a:rPr>
              <a:t>A rotina de delays contempla tanto delays para lidar com o ruído, tanto quanto para controlar o ritmo das exibições no display.</a:t>
            </a:r>
            <a:endParaRPr lang="pt-BR">
              <a:solidFill>
                <a:schemeClr val="bg1"/>
              </a:solidFill>
              <a:latin typeface="Aptos Slab"/>
            </a:endParaRP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b="1">
                <a:solidFill>
                  <a:schemeClr val="bg1"/>
                </a:solidFill>
              </a:rPr>
              <a:t>DISPLAYS</a:t>
            </a:r>
            <a:endParaRPr lang="pt-BR" b="1" dirty="0">
              <a:solidFill>
                <a:schemeClr val="bg1"/>
              </a:solidFill>
            </a:endParaRPr>
          </a:p>
          <a:p>
            <a:r>
              <a:rPr lang="pt-BR">
                <a:solidFill>
                  <a:srgbClr val="FFFFFF"/>
                </a:solidFill>
                <a:latin typeface="Aptos Slab"/>
                <a:ea typeface="+mn-lt"/>
                <a:cs typeface="+mn-lt"/>
              </a:rPr>
              <a:t>CPI    r27, 10</a:t>
            </a:r>
            <a:endParaRPr lang="pt-BR">
              <a:solidFill>
                <a:srgbClr val="000000"/>
              </a:solidFill>
              <a:latin typeface="Aptos" panose="020B0004020202020204"/>
              <a:ea typeface="+mn-lt"/>
              <a:cs typeface="+mn-lt"/>
            </a:endParaRPr>
          </a:p>
          <a:p>
            <a:r>
              <a:rPr lang="pt-BR" dirty="0">
                <a:solidFill>
                  <a:srgbClr val="FFFFFF"/>
                </a:solidFill>
                <a:latin typeface="Aptos Slab"/>
                <a:ea typeface="+mn-lt"/>
                <a:cs typeface="+mn-lt"/>
              </a:rPr>
              <a:t>BRLO    </a:t>
            </a:r>
            <a:r>
              <a:rPr lang="pt-BR" dirty="0" err="1">
                <a:solidFill>
                  <a:srgbClr val="FFFFFF"/>
                </a:solidFill>
                <a:latin typeface="Aptos Slab"/>
                <a:ea typeface="+mn-lt"/>
                <a:cs typeface="+mn-lt"/>
              </a:rPr>
              <a:t>separa_fim</a:t>
            </a:r>
            <a:endParaRPr lang="pt-BR" dirty="0" err="1">
              <a:solidFill>
                <a:srgbClr val="000000"/>
              </a:solidFill>
              <a:latin typeface="Aptos" panose="020B0004020202020204"/>
              <a:ea typeface="+mn-lt"/>
              <a:cs typeface="+mn-lt"/>
            </a:endParaRPr>
          </a:p>
          <a:p>
            <a:r>
              <a:rPr lang="pt-BR">
                <a:solidFill>
                  <a:srgbClr val="FFFFFF"/>
                </a:solidFill>
                <a:latin typeface="Aptos Slab"/>
                <a:ea typeface="+mn-lt"/>
                <a:cs typeface="+mn-lt"/>
              </a:rPr>
              <a:t>SUBI    r27, 10</a:t>
            </a:r>
            <a:endParaRPr lang="pt-BR">
              <a:solidFill>
                <a:srgbClr val="000000"/>
              </a:solidFill>
              <a:latin typeface="Aptos" panose="020B0004020202020204"/>
              <a:ea typeface="+mn-lt"/>
              <a:cs typeface="+mn-lt"/>
            </a:endParaRPr>
          </a:p>
          <a:p>
            <a:r>
              <a:rPr lang="pt-BR">
                <a:solidFill>
                  <a:srgbClr val="FFFFFF"/>
                </a:solidFill>
                <a:latin typeface="Aptos Slab"/>
                <a:ea typeface="+mn-lt"/>
                <a:cs typeface="+mn-lt"/>
              </a:rPr>
              <a:t>INC     DISP_DEC</a:t>
            </a:r>
            <a:endParaRPr lang="pt-BR">
              <a:solidFill>
                <a:srgbClr val="000000"/>
              </a:solidFill>
              <a:latin typeface="Aptos" panose="020B0004020202020204"/>
              <a:ea typeface="+mn-lt"/>
              <a:cs typeface="+mn-lt"/>
            </a:endParaRPr>
          </a:p>
          <a:p>
            <a:r>
              <a:rPr lang="pt-BR" dirty="0">
                <a:solidFill>
                  <a:srgbClr val="FFFFFF"/>
                </a:solidFill>
                <a:latin typeface="Aptos Slab"/>
                <a:ea typeface="+mn-lt"/>
                <a:cs typeface="+mn-lt"/>
              </a:rPr>
              <a:t>RJMP    </a:t>
            </a:r>
            <a:r>
              <a:rPr lang="pt-BR" dirty="0" err="1">
                <a:solidFill>
                  <a:srgbClr val="FFFFFF"/>
                </a:solidFill>
                <a:latin typeface="Aptos Slab"/>
                <a:ea typeface="+mn-lt"/>
                <a:cs typeface="+mn-lt"/>
              </a:rPr>
              <a:t>separa_dezena</a:t>
            </a:r>
            <a:endParaRPr lang="pt-BR" dirty="0"/>
          </a:p>
          <a:p>
            <a:endParaRPr lang="pt-BR" dirty="0">
              <a:solidFill>
                <a:schemeClr val="bg1"/>
              </a:solidFill>
              <a:latin typeface="Aptos Slab"/>
            </a:endParaRPr>
          </a:p>
          <a:p>
            <a:r>
              <a:rPr lang="pt-BR" b="1">
                <a:solidFill>
                  <a:schemeClr val="bg1"/>
                </a:solidFill>
              </a:rPr>
              <a:t>VARIÁVEIS GLOBAIS</a:t>
            </a:r>
          </a:p>
          <a:p>
            <a:r>
              <a:rPr lang="pt-BR">
                <a:solidFill>
                  <a:schemeClr val="bg1"/>
                </a:solidFill>
                <a:latin typeface="Aptos Slab"/>
              </a:rPr>
              <a:t>Este é o dicionário do sistema, onde contém a definição dos pinos, dos registradores e da memória SRAM.</a:t>
            </a:r>
          </a:p>
        </p:txBody>
      </p:sp>
    </p:spTree>
    <p:extLst>
      <p:ext uri="{BB962C8B-B14F-4D97-AF65-F5344CB8AC3E}">
        <p14:creationId xmlns:p14="http://schemas.microsoft.com/office/powerpoint/2010/main" val="16825015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5A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9B73AF-9510-44BE-50E2-FBE0A253C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244690ED-0980-3804-F391-486CBE99464F}"/>
              </a:ext>
            </a:extLst>
          </p:cNvPr>
          <p:cNvSpPr/>
          <p:nvPr/>
        </p:nvSpPr>
        <p:spPr>
          <a:xfrm>
            <a:off x="3222289" y="-6750"/>
            <a:ext cx="7398470" cy="6867682"/>
          </a:xfrm>
          <a:prstGeom prst="rect">
            <a:avLst/>
          </a:prstGeom>
          <a:solidFill>
            <a:srgbClr val="460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93CA9CD7-4EA0-50D4-3C13-6FB5D1E57EAB}"/>
              </a:ext>
            </a:extLst>
          </p:cNvPr>
          <p:cNvSpPr/>
          <p:nvPr/>
        </p:nvSpPr>
        <p:spPr>
          <a:xfrm>
            <a:off x="10329398" y="5802289"/>
            <a:ext cx="855306" cy="691287"/>
          </a:xfrm>
          <a:prstGeom prst="roundRect">
            <a:avLst/>
          </a:prstGeom>
          <a:solidFill>
            <a:srgbClr val="460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3">
            <a:extLst>
              <a:ext uri="{FF2B5EF4-FFF2-40B4-BE49-F238E27FC236}">
                <a16:creationId xmlns:a16="http://schemas.microsoft.com/office/drawing/2014/main" id="{151D7406-4450-D5FE-979E-1285980D11B0}"/>
              </a:ext>
            </a:extLst>
          </p:cNvPr>
          <p:cNvSpPr/>
          <p:nvPr/>
        </p:nvSpPr>
        <p:spPr>
          <a:xfrm>
            <a:off x="993797" y="-6750"/>
            <a:ext cx="8778697" cy="6882059"/>
          </a:xfrm>
          <a:prstGeom prst="rect">
            <a:avLst/>
          </a:prstGeom>
          <a:solidFill>
            <a:srgbClr val="E02C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C986A27-510A-89D5-5E60-13220845DA01}"/>
              </a:ext>
            </a:extLst>
          </p:cNvPr>
          <p:cNvSpPr/>
          <p:nvPr/>
        </p:nvSpPr>
        <p:spPr>
          <a:xfrm>
            <a:off x="9466755" y="4896514"/>
            <a:ext cx="855306" cy="691287"/>
          </a:xfrm>
          <a:prstGeom prst="roundRect">
            <a:avLst/>
          </a:prstGeom>
          <a:solidFill>
            <a:srgbClr val="E02C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3">
            <a:extLst>
              <a:ext uri="{FF2B5EF4-FFF2-40B4-BE49-F238E27FC236}">
                <a16:creationId xmlns:a16="http://schemas.microsoft.com/office/drawing/2014/main" id="{DFE5289C-D16F-C8F1-A89E-3FAE4A54E665}"/>
              </a:ext>
            </a:extLst>
          </p:cNvPr>
          <p:cNvSpPr/>
          <p:nvPr/>
        </p:nvSpPr>
        <p:spPr>
          <a:xfrm>
            <a:off x="-2514277" y="-193654"/>
            <a:ext cx="5486282" cy="7040210"/>
          </a:xfrm>
          <a:prstGeom prst="rect">
            <a:avLst/>
          </a:prstGeom>
          <a:solidFill>
            <a:srgbClr val="03AE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9FB572D7-7ED0-B03E-9D8D-25B4A793D4B3}"/>
              </a:ext>
            </a:extLst>
          </p:cNvPr>
          <p:cNvSpPr/>
          <p:nvPr/>
        </p:nvSpPr>
        <p:spPr>
          <a:xfrm>
            <a:off x="2666266" y="3947610"/>
            <a:ext cx="855306" cy="691287"/>
          </a:xfrm>
          <a:prstGeom prst="roundRect">
            <a:avLst/>
          </a:prstGeom>
          <a:solidFill>
            <a:srgbClr val="03AE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3">
            <a:extLst>
              <a:ext uri="{FF2B5EF4-FFF2-40B4-BE49-F238E27FC236}">
                <a16:creationId xmlns:a16="http://schemas.microsoft.com/office/drawing/2014/main" id="{92197563-C886-E344-0068-1D076972E7CD}"/>
              </a:ext>
            </a:extLst>
          </p:cNvPr>
          <p:cNvSpPr/>
          <p:nvPr/>
        </p:nvSpPr>
        <p:spPr>
          <a:xfrm>
            <a:off x="-3391297" y="-193655"/>
            <a:ext cx="5486282" cy="7040210"/>
          </a:xfrm>
          <a:prstGeom prst="rect">
            <a:avLst/>
          </a:prstGeom>
          <a:solidFill>
            <a:srgbClr val="FF9F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D05D550C-5688-DCA8-4AB8-EBBCC7E880B0}"/>
              </a:ext>
            </a:extLst>
          </p:cNvPr>
          <p:cNvSpPr/>
          <p:nvPr/>
        </p:nvSpPr>
        <p:spPr>
          <a:xfrm>
            <a:off x="1803624" y="2883685"/>
            <a:ext cx="855306" cy="691287"/>
          </a:xfrm>
          <a:prstGeom prst="roundRect">
            <a:avLst/>
          </a:prstGeom>
          <a:solidFill>
            <a:srgbClr val="FF9F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3">
            <a:extLst>
              <a:ext uri="{FF2B5EF4-FFF2-40B4-BE49-F238E27FC236}">
                <a16:creationId xmlns:a16="http://schemas.microsoft.com/office/drawing/2014/main" id="{D03D209B-3792-55BB-5CAE-104F63274633}"/>
              </a:ext>
            </a:extLst>
          </p:cNvPr>
          <p:cNvSpPr/>
          <p:nvPr/>
        </p:nvSpPr>
        <p:spPr>
          <a:xfrm>
            <a:off x="-4282694" y="-179276"/>
            <a:ext cx="5486282" cy="7040209"/>
          </a:xfrm>
          <a:prstGeom prst="rect">
            <a:avLst/>
          </a:prstGeom>
          <a:solidFill>
            <a:srgbClr val="FFE5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0BCE54B7-3EAE-76CB-E1F2-6DEFAE33D66F}"/>
              </a:ext>
            </a:extLst>
          </p:cNvPr>
          <p:cNvSpPr/>
          <p:nvPr/>
        </p:nvSpPr>
        <p:spPr>
          <a:xfrm>
            <a:off x="940982" y="1877270"/>
            <a:ext cx="855306" cy="691287"/>
          </a:xfrm>
          <a:prstGeom prst="roundRect">
            <a:avLst/>
          </a:prstGeom>
          <a:solidFill>
            <a:srgbClr val="FFE5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0A48390-1B79-29BC-C7F8-8A88EAB8BFAB}"/>
              </a:ext>
            </a:extLst>
          </p:cNvPr>
          <p:cNvSpPr txBox="1"/>
          <p:nvPr/>
        </p:nvSpPr>
        <p:spPr>
          <a:xfrm>
            <a:off x="4373358" y="1316262"/>
            <a:ext cx="4494244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chemeClr val="bg1"/>
                </a:solidFill>
              </a:rPr>
              <a:t>DELAYS</a:t>
            </a:r>
          </a:p>
          <a:p>
            <a:r>
              <a:rPr lang="pt-BR">
                <a:solidFill>
                  <a:schemeClr val="bg1"/>
                </a:solidFill>
                <a:latin typeface="Aptos Slab"/>
                <a:ea typeface="+mn-lt"/>
                <a:cs typeface="+mn-lt"/>
              </a:rPr>
              <a:t>A rotina de delays contempla tanto delays para lidar com o ruído, tanto quanto para controlar o ritmo das exibições no display.</a:t>
            </a:r>
            <a:endParaRPr lang="pt-BR">
              <a:solidFill>
                <a:schemeClr val="bg1"/>
              </a:solidFill>
              <a:latin typeface="Aptos Slab"/>
            </a:endParaRP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b="1">
                <a:solidFill>
                  <a:schemeClr val="bg1"/>
                </a:solidFill>
              </a:rPr>
              <a:t>DISPLAYS</a:t>
            </a:r>
            <a:endParaRPr lang="pt-BR" b="1" dirty="0">
              <a:solidFill>
                <a:schemeClr val="bg1"/>
              </a:solidFill>
            </a:endParaRPr>
          </a:p>
          <a:p>
            <a:r>
              <a:rPr lang="pt-BR">
                <a:solidFill>
                  <a:schemeClr val="bg1"/>
                </a:solidFill>
                <a:latin typeface="Aptos Slab"/>
                <a:ea typeface="+mn-lt"/>
                <a:cs typeface="+mn-lt"/>
              </a:rPr>
              <a:t>Aqui, será resgatado o número sorteado para separar a dezena e a unidade,</a:t>
            </a:r>
            <a:endParaRPr lang="pt-BR">
              <a:solidFill>
                <a:schemeClr val="bg1"/>
              </a:solidFill>
              <a:latin typeface="Aptos Slab"/>
            </a:endParaRPr>
          </a:p>
          <a:p>
            <a:r>
              <a:rPr lang="pt-BR">
                <a:solidFill>
                  <a:schemeClr val="bg1"/>
                </a:solidFill>
                <a:latin typeface="Aptos Slab"/>
                <a:ea typeface="+mn-lt"/>
                <a:cs typeface="+mn-lt"/>
              </a:rPr>
              <a:t>determinar quais LEDs do display vão acender para formar esse desenho e preparar a exibição.</a:t>
            </a:r>
            <a:endParaRPr lang="pt-BR">
              <a:solidFill>
                <a:schemeClr val="bg1"/>
              </a:solidFill>
              <a:latin typeface="Aptos Slab"/>
            </a:endParaRP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b="1">
                <a:solidFill>
                  <a:schemeClr val="bg1"/>
                </a:solidFill>
              </a:rPr>
              <a:t>VARIÁVEIS GLOBAIS</a:t>
            </a:r>
          </a:p>
          <a:p>
            <a:r>
              <a:rPr lang="pt-BR" dirty="0">
                <a:solidFill>
                  <a:schemeClr val="bg1"/>
                </a:solidFill>
                <a:latin typeface="Aptos Slab"/>
              </a:rPr>
              <a:t>.</a:t>
            </a:r>
            <a:r>
              <a:rPr lang="pt-BR" err="1">
                <a:solidFill>
                  <a:schemeClr val="bg1"/>
                </a:solidFill>
                <a:latin typeface="Aptos Slab"/>
              </a:rPr>
              <a:t>def</a:t>
            </a:r>
            <a:r>
              <a:rPr lang="pt-BR" dirty="0">
                <a:solidFill>
                  <a:schemeClr val="bg1"/>
                </a:solidFill>
                <a:latin typeface="Aptos Slab"/>
              </a:rPr>
              <a:t> FLAGS        = r24 </a:t>
            </a:r>
            <a:endParaRPr lang="pt-BR" dirty="0">
              <a:solidFill>
                <a:schemeClr val="bg1"/>
              </a:solidFill>
              <a:latin typeface="Aptos" panose="020B0004020202020204"/>
            </a:endParaRPr>
          </a:p>
          <a:p>
            <a:r>
              <a:rPr lang="pt-BR" dirty="0">
                <a:solidFill>
                  <a:schemeClr val="bg1"/>
                </a:solidFill>
                <a:latin typeface="Aptos Slab"/>
              </a:rPr>
              <a:t>.</a:t>
            </a:r>
            <a:r>
              <a:rPr lang="pt-BR" dirty="0" err="1">
                <a:solidFill>
                  <a:schemeClr val="bg1"/>
                </a:solidFill>
                <a:latin typeface="Aptos Slab"/>
              </a:rPr>
              <a:t>def</a:t>
            </a:r>
            <a:r>
              <a:rPr lang="pt-BR" dirty="0">
                <a:solidFill>
                  <a:schemeClr val="bg1"/>
                </a:solidFill>
                <a:latin typeface="Aptos Slab"/>
              </a:rPr>
              <a:t> DEBOUNCE_CNT = r25</a:t>
            </a:r>
            <a:endParaRPr lang="pt-BR">
              <a:solidFill>
                <a:schemeClr val="bg1"/>
              </a:solidFill>
            </a:endParaRPr>
          </a:p>
          <a:p>
            <a:r>
              <a:rPr lang="pt-BR">
                <a:solidFill>
                  <a:srgbClr val="FFFFFF"/>
                </a:solidFill>
                <a:latin typeface="Aptos Slab"/>
              </a:rPr>
              <a:t>.equ BINGO_MAX   = 75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35189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5A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8AFE91-0B8B-2736-C18A-6DBC7295D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6714D0DB-62A1-2531-431A-213B749F00F2}"/>
              </a:ext>
            </a:extLst>
          </p:cNvPr>
          <p:cNvSpPr/>
          <p:nvPr/>
        </p:nvSpPr>
        <p:spPr>
          <a:xfrm>
            <a:off x="3222289" y="-6750"/>
            <a:ext cx="7398470" cy="6867682"/>
          </a:xfrm>
          <a:prstGeom prst="rect">
            <a:avLst/>
          </a:prstGeom>
          <a:solidFill>
            <a:srgbClr val="460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40DFA72F-39DB-AAA8-DC63-F0D2271FD978}"/>
              </a:ext>
            </a:extLst>
          </p:cNvPr>
          <p:cNvSpPr/>
          <p:nvPr/>
        </p:nvSpPr>
        <p:spPr>
          <a:xfrm>
            <a:off x="10329398" y="5802289"/>
            <a:ext cx="855306" cy="691287"/>
          </a:xfrm>
          <a:prstGeom prst="roundRect">
            <a:avLst/>
          </a:prstGeom>
          <a:solidFill>
            <a:srgbClr val="460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3">
            <a:extLst>
              <a:ext uri="{FF2B5EF4-FFF2-40B4-BE49-F238E27FC236}">
                <a16:creationId xmlns:a16="http://schemas.microsoft.com/office/drawing/2014/main" id="{41FCFBEA-273C-5E8B-CC71-00B7BE859DB7}"/>
              </a:ext>
            </a:extLst>
          </p:cNvPr>
          <p:cNvSpPr/>
          <p:nvPr/>
        </p:nvSpPr>
        <p:spPr>
          <a:xfrm>
            <a:off x="993797" y="-6750"/>
            <a:ext cx="8778697" cy="6882059"/>
          </a:xfrm>
          <a:prstGeom prst="rect">
            <a:avLst/>
          </a:prstGeom>
          <a:solidFill>
            <a:srgbClr val="E02C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2237939-162C-7634-AEF8-C329E2079B3C}"/>
              </a:ext>
            </a:extLst>
          </p:cNvPr>
          <p:cNvSpPr/>
          <p:nvPr/>
        </p:nvSpPr>
        <p:spPr>
          <a:xfrm>
            <a:off x="9466755" y="4896514"/>
            <a:ext cx="855306" cy="691287"/>
          </a:xfrm>
          <a:prstGeom prst="roundRect">
            <a:avLst/>
          </a:prstGeom>
          <a:solidFill>
            <a:srgbClr val="E02C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3">
            <a:extLst>
              <a:ext uri="{FF2B5EF4-FFF2-40B4-BE49-F238E27FC236}">
                <a16:creationId xmlns:a16="http://schemas.microsoft.com/office/drawing/2014/main" id="{0303D4EB-C077-1F8F-0A66-378E81C0BE52}"/>
              </a:ext>
            </a:extLst>
          </p:cNvPr>
          <p:cNvSpPr/>
          <p:nvPr/>
        </p:nvSpPr>
        <p:spPr>
          <a:xfrm>
            <a:off x="993799" y="-179276"/>
            <a:ext cx="7844168" cy="7054587"/>
          </a:xfrm>
          <a:prstGeom prst="rect">
            <a:avLst/>
          </a:prstGeom>
          <a:solidFill>
            <a:srgbClr val="03AE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E544D72-935E-957D-80B1-A64F0D803815}"/>
              </a:ext>
            </a:extLst>
          </p:cNvPr>
          <p:cNvSpPr/>
          <p:nvPr/>
        </p:nvSpPr>
        <p:spPr>
          <a:xfrm>
            <a:off x="8604115" y="3818214"/>
            <a:ext cx="855306" cy="691287"/>
          </a:xfrm>
          <a:prstGeom prst="roundRect">
            <a:avLst/>
          </a:prstGeom>
          <a:solidFill>
            <a:srgbClr val="03AE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3">
            <a:extLst>
              <a:ext uri="{FF2B5EF4-FFF2-40B4-BE49-F238E27FC236}">
                <a16:creationId xmlns:a16="http://schemas.microsoft.com/office/drawing/2014/main" id="{1919D7CA-48A0-4E58-E708-694A658F00BF}"/>
              </a:ext>
            </a:extLst>
          </p:cNvPr>
          <p:cNvSpPr/>
          <p:nvPr/>
        </p:nvSpPr>
        <p:spPr>
          <a:xfrm>
            <a:off x="-3391297" y="-193655"/>
            <a:ext cx="5486282" cy="7040210"/>
          </a:xfrm>
          <a:prstGeom prst="rect">
            <a:avLst/>
          </a:prstGeom>
          <a:solidFill>
            <a:srgbClr val="FF9F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6EC101C-1A6B-362F-25D4-800455497048}"/>
              </a:ext>
            </a:extLst>
          </p:cNvPr>
          <p:cNvSpPr/>
          <p:nvPr/>
        </p:nvSpPr>
        <p:spPr>
          <a:xfrm>
            <a:off x="1803624" y="2883685"/>
            <a:ext cx="855306" cy="691287"/>
          </a:xfrm>
          <a:prstGeom prst="roundRect">
            <a:avLst/>
          </a:prstGeom>
          <a:solidFill>
            <a:srgbClr val="FF9F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3">
            <a:extLst>
              <a:ext uri="{FF2B5EF4-FFF2-40B4-BE49-F238E27FC236}">
                <a16:creationId xmlns:a16="http://schemas.microsoft.com/office/drawing/2014/main" id="{024763E5-78B1-28D3-AAD2-564D41466923}"/>
              </a:ext>
            </a:extLst>
          </p:cNvPr>
          <p:cNvSpPr/>
          <p:nvPr/>
        </p:nvSpPr>
        <p:spPr>
          <a:xfrm>
            <a:off x="-4282694" y="-179276"/>
            <a:ext cx="5486282" cy="7040209"/>
          </a:xfrm>
          <a:prstGeom prst="rect">
            <a:avLst/>
          </a:prstGeom>
          <a:solidFill>
            <a:srgbClr val="FFE5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8AC89729-1AE3-5CAF-BF27-2C0D6392E09F}"/>
              </a:ext>
            </a:extLst>
          </p:cNvPr>
          <p:cNvSpPr/>
          <p:nvPr/>
        </p:nvSpPr>
        <p:spPr>
          <a:xfrm>
            <a:off x="940982" y="1877270"/>
            <a:ext cx="855306" cy="691287"/>
          </a:xfrm>
          <a:prstGeom prst="roundRect">
            <a:avLst/>
          </a:prstGeom>
          <a:solidFill>
            <a:srgbClr val="FFE5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E58DB7D-5E60-2391-265C-BCFDDAB5EEF2}"/>
              </a:ext>
            </a:extLst>
          </p:cNvPr>
          <p:cNvSpPr txBox="1"/>
          <p:nvPr/>
        </p:nvSpPr>
        <p:spPr>
          <a:xfrm>
            <a:off x="3223169" y="1991997"/>
            <a:ext cx="4494244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chemeClr val="bg1"/>
                </a:solidFill>
              </a:rPr>
              <a:t>HARDWARE</a:t>
            </a:r>
            <a:endParaRPr lang="pt-BR" b="1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  <a:latin typeface="Aptos Slab"/>
                <a:ea typeface="+mn-lt"/>
                <a:cs typeface="+mn-lt"/>
              </a:rPr>
              <a:t>Este arquivo configura os pinos físicos, prepara o relógio interno do </a:t>
            </a:r>
            <a:r>
              <a:rPr lang="pt-BR">
                <a:solidFill>
                  <a:schemeClr val="bg1"/>
                </a:solidFill>
                <a:latin typeface="Aptos Slab"/>
                <a:ea typeface="+mn-lt"/>
                <a:cs typeface="+mn-lt"/>
              </a:rPr>
              <a:t>microcontrolador</a:t>
            </a:r>
            <a:r>
              <a:rPr lang="pt-BR" dirty="0">
                <a:solidFill>
                  <a:schemeClr val="bg1"/>
                </a:solidFill>
                <a:latin typeface="Aptos Slab"/>
                <a:ea typeface="+mn-lt"/>
                <a:cs typeface="+mn-lt"/>
              </a:rPr>
              <a:t> e diz quando um</a:t>
            </a:r>
            <a:endParaRPr lang="pt-BR">
              <a:solidFill>
                <a:schemeClr val="bg1"/>
              </a:solidFill>
              <a:latin typeface="Aptos Slab"/>
            </a:endParaRPr>
          </a:p>
          <a:p>
            <a:r>
              <a:rPr lang="pt-BR">
                <a:solidFill>
                  <a:schemeClr val="bg1"/>
                </a:solidFill>
                <a:latin typeface="Aptos Slab"/>
                <a:ea typeface="+mn-lt"/>
                <a:cs typeface="+mn-lt"/>
              </a:rPr>
              <a:t>alarme (Interrupção) tocar.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b="1">
                <a:solidFill>
                  <a:schemeClr val="bg1"/>
                </a:solidFill>
              </a:rPr>
              <a:t>POWER</a:t>
            </a:r>
            <a:endParaRPr lang="pt-BR" b="1" dirty="0">
              <a:solidFill>
                <a:schemeClr val="bg1"/>
              </a:solidFill>
            </a:endParaRPr>
          </a:p>
          <a:p>
            <a:r>
              <a:rPr lang="pt-BR">
                <a:solidFill>
                  <a:srgbClr val="FFFFFF"/>
                </a:solidFill>
                <a:latin typeface="Aptos Slab"/>
                <a:ea typeface="+mn-lt"/>
                <a:cs typeface="+mn-lt"/>
              </a:rPr>
              <a:t>Já neste, é realizado o controle do botão de energia para ligar, desligar e resetar</a:t>
            </a:r>
            <a:br>
              <a:rPr lang="pt-BR" dirty="0">
                <a:solidFill>
                  <a:srgbClr val="FFFFFF"/>
                </a:solidFill>
                <a:latin typeface="Aptos Slab"/>
                <a:ea typeface="+mn-lt"/>
                <a:cs typeface="+mn-lt"/>
              </a:rPr>
            </a:br>
            <a:r>
              <a:rPr lang="pt-BR">
                <a:solidFill>
                  <a:srgbClr val="FFFFFF"/>
                </a:solidFill>
                <a:latin typeface="Aptos Slab"/>
                <a:ea typeface="+mn-lt"/>
                <a:cs typeface="+mn-lt"/>
              </a:rPr>
              <a:t>o Bingo.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7233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5A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20A9C-9982-BCFC-39D5-87A4B0A0E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5123FEA-AEFD-5ED8-8060-E6ABA8AB0F0B}"/>
              </a:ext>
            </a:extLst>
          </p:cNvPr>
          <p:cNvSpPr/>
          <p:nvPr/>
        </p:nvSpPr>
        <p:spPr>
          <a:xfrm>
            <a:off x="3222289" y="-6750"/>
            <a:ext cx="7398470" cy="6867682"/>
          </a:xfrm>
          <a:prstGeom prst="rect">
            <a:avLst/>
          </a:prstGeom>
          <a:solidFill>
            <a:srgbClr val="460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461FE4B7-30C2-6524-EC8F-4BB10F2D8E12}"/>
              </a:ext>
            </a:extLst>
          </p:cNvPr>
          <p:cNvSpPr/>
          <p:nvPr/>
        </p:nvSpPr>
        <p:spPr>
          <a:xfrm>
            <a:off x="10329398" y="5802289"/>
            <a:ext cx="855306" cy="691287"/>
          </a:xfrm>
          <a:prstGeom prst="roundRect">
            <a:avLst/>
          </a:prstGeom>
          <a:solidFill>
            <a:srgbClr val="460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3">
            <a:extLst>
              <a:ext uri="{FF2B5EF4-FFF2-40B4-BE49-F238E27FC236}">
                <a16:creationId xmlns:a16="http://schemas.microsoft.com/office/drawing/2014/main" id="{BEE13FA5-0EC2-A348-D0DD-9F9228E1580A}"/>
              </a:ext>
            </a:extLst>
          </p:cNvPr>
          <p:cNvSpPr/>
          <p:nvPr/>
        </p:nvSpPr>
        <p:spPr>
          <a:xfrm>
            <a:off x="993797" y="-6750"/>
            <a:ext cx="8778697" cy="6882059"/>
          </a:xfrm>
          <a:prstGeom prst="rect">
            <a:avLst/>
          </a:prstGeom>
          <a:solidFill>
            <a:srgbClr val="E02C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F2B2FBC-54E0-0526-7CBD-B2D99AC05972}"/>
              </a:ext>
            </a:extLst>
          </p:cNvPr>
          <p:cNvSpPr/>
          <p:nvPr/>
        </p:nvSpPr>
        <p:spPr>
          <a:xfrm>
            <a:off x="9466755" y="4896514"/>
            <a:ext cx="855306" cy="691287"/>
          </a:xfrm>
          <a:prstGeom prst="roundRect">
            <a:avLst/>
          </a:prstGeom>
          <a:solidFill>
            <a:srgbClr val="E02C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3">
            <a:extLst>
              <a:ext uri="{FF2B5EF4-FFF2-40B4-BE49-F238E27FC236}">
                <a16:creationId xmlns:a16="http://schemas.microsoft.com/office/drawing/2014/main" id="{5F4DD5D6-C170-9577-4C6F-081ED920B40E}"/>
              </a:ext>
            </a:extLst>
          </p:cNvPr>
          <p:cNvSpPr/>
          <p:nvPr/>
        </p:nvSpPr>
        <p:spPr>
          <a:xfrm>
            <a:off x="993799" y="-179276"/>
            <a:ext cx="7844168" cy="7054587"/>
          </a:xfrm>
          <a:prstGeom prst="rect">
            <a:avLst/>
          </a:prstGeom>
          <a:solidFill>
            <a:srgbClr val="03AE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038DB645-DC73-7323-CB86-F9D69211BE3B}"/>
              </a:ext>
            </a:extLst>
          </p:cNvPr>
          <p:cNvSpPr/>
          <p:nvPr/>
        </p:nvSpPr>
        <p:spPr>
          <a:xfrm>
            <a:off x="8604115" y="3818214"/>
            <a:ext cx="855306" cy="691287"/>
          </a:xfrm>
          <a:prstGeom prst="roundRect">
            <a:avLst/>
          </a:prstGeom>
          <a:solidFill>
            <a:srgbClr val="03AE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3">
            <a:extLst>
              <a:ext uri="{FF2B5EF4-FFF2-40B4-BE49-F238E27FC236}">
                <a16:creationId xmlns:a16="http://schemas.microsoft.com/office/drawing/2014/main" id="{9EC8D176-2064-C781-ECCD-C60ABB6A80B3}"/>
              </a:ext>
            </a:extLst>
          </p:cNvPr>
          <p:cNvSpPr/>
          <p:nvPr/>
        </p:nvSpPr>
        <p:spPr>
          <a:xfrm>
            <a:off x="-3391297" y="-193655"/>
            <a:ext cx="5486282" cy="7040210"/>
          </a:xfrm>
          <a:prstGeom prst="rect">
            <a:avLst/>
          </a:prstGeom>
          <a:solidFill>
            <a:srgbClr val="FF9F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D2714F5E-5908-68C2-F6DD-7D4F81C3259A}"/>
              </a:ext>
            </a:extLst>
          </p:cNvPr>
          <p:cNvSpPr/>
          <p:nvPr/>
        </p:nvSpPr>
        <p:spPr>
          <a:xfrm>
            <a:off x="1803624" y="2883685"/>
            <a:ext cx="855306" cy="691287"/>
          </a:xfrm>
          <a:prstGeom prst="roundRect">
            <a:avLst/>
          </a:prstGeom>
          <a:solidFill>
            <a:srgbClr val="FF9F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3">
            <a:extLst>
              <a:ext uri="{FF2B5EF4-FFF2-40B4-BE49-F238E27FC236}">
                <a16:creationId xmlns:a16="http://schemas.microsoft.com/office/drawing/2014/main" id="{212B2DBD-AC58-1093-3AB9-08842DE9C579}"/>
              </a:ext>
            </a:extLst>
          </p:cNvPr>
          <p:cNvSpPr/>
          <p:nvPr/>
        </p:nvSpPr>
        <p:spPr>
          <a:xfrm>
            <a:off x="-4282694" y="-179276"/>
            <a:ext cx="5486282" cy="7040209"/>
          </a:xfrm>
          <a:prstGeom prst="rect">
            <a:avLst/>
          </a:prstGeom>
          <a:solidFill>
            <a:srgbClr val="FFE5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3B2999E-CE1F-E558-1B22-EF94CD66E7D5}"/>
              </a:ext>
            </a:extLst>
          </p:cNvPr>
          <p:cNvSpPr/>
          <p:nvPr/>
        </p:nvSpPr>
        <p:spPr>
          <a:xfrm>
            <a:off x="940982" y="1877270"/>
            <a:ext cx="855306" cy="691287"/>
          </a:xfrm>
          <a:prstGeom prst="roundRect">
            <a:avLst/>
          </a:prstGeom>
          <a:solidFill>
            <a:srgbClr val="FFE5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10F7B5F-C67B-E67E-B6BC-C6DBDCED402D}"/>
              </a:ext>
            </a:extLst>
          </p:cNvPr>
          <p:cNvSpPr txBox="1"/>
          <p:nvPr/>
        </p:nvSpPr>
        <p:spPr>
          <a:xfrm>
            <a:off x="3223169" y="1718827"/>
            <a:ext cx="4494244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chemeClr val="bg1"/>
                </a:solidFill>
              </a:rPr>
              <a:t>HARDWARE</a:t>
            </a:r>
            <a:endParaRPr lang="pt-BR" b="1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rgbClr val="FFFFFF"/>
                </a:solidFill>
                <a:latin typeface="Aptos Slab"/>
                <a:ea typeface="+mn-lt"/>
                <a:cs typeface="+mn-lt"/>
              </a:rPr>
              <a:t>LDS     TEMP, </a:t>
            </a:r>
            <a:r>
              <a:rPr lang="pt-BR" dirty="0" err="1">
                <a:solidFill>
                  <a:srgbClr val="FFFFFF"/>
                </a:solidFill>
                <a:latin typeface="Aptos Slab"/>
                <a:ea typeface="+mn-lt"/>
                <a:cs typeface="+mn-lt"/>
              </a:rPr>
              <a:t>tick_ms</a:t>
            </a:r>
            <a:br>
              <a:rPr lang="pt-BR" dirty="0">
                <a:solidFill>
                  <a:srgbClr val="FFFFFF"/>
                </a:solidFill>
                <a:latin typeface="Aptos Slab"/>
                <a:ea typeface="+mn-lt"/>
                <a:cs typeface="+mn-lt"/>
              </a:rPr>
            </a:br>
            <a:r>
              <a:rPr lang="pt-BR" dirty="0">
                <a:solidFill>
                  <a:srgbClr val="FFFFFF"/>
                </a:solidFill>
                <a:latin typeface="Aptos Slab"/>
                <a:ea typeface="+mn-lt"/>
                <a:cs typeface="+mn-lt"/>
              </a:rPr>
              <a:t>INC     TEMP</a:t>
            </a:r>
            <a:br>
              <a:rPr lang="pt-BR" dirty="0">
                <a:solidFill>
                  <a:srgbClr val="FFFFFF"/>
                </a:solidFill>
                <a:latin typeface="Aptos Slab"/>
                <a:ea typeface="+mn-lt"/>
                <a:cs typeface="+mn-lt"/>
              </a:rPr>
            </a:br>
            <a:r>
              <a:rPr lang="pt-BR" dirty="0">
                <a:solidFill>
                  <a:srgbClr val="FFFFFF"/>
                </a:solidFill>
                <a:latin typeface="Aptos Slab"/>
                <a:ea typeface="+mn-lt"/>
                <a:cs typeface="+mn-lt"/>
              </a:rPr>
              <a:t>STS     </a:t>
            </a:r>
            <a:r>
              <a:rPr lang="pt-BR" dirty="0" err="1">
                <a:solidFill>
                  <a:srgbClr val="FFFFFF"/>
                </a:solidFill>
                <a:latin typeface="Aptos Slab"/>
                <a:ea typeface="+mn-lt"/>
                <a:cs typeface="+mn-lt"/>
              </a:rPr>
              <a:t>tick_ms</a:t>
            </a:r>
            <a:r>
              <a:rPr lang="pt-BR" dirty="0">
                <a:solidFill>
                  <a:srgbClr val="FFFFFF"/>
                </a:solidFill>
                <a:latin typeface="Aptos Slab"/>
                <a:ea typeface="+mn-lt"/>
                <a:cs typeface="+mn-lt"/>
              </a:rPr>
              <a:t>, TEMP </a:t>
            </a:r>
            <a:endParaRPr lang="pt-BR" dirty="0">
              <a:solidFill>
                <a:srgbClr val="FFFFFF"/>
              </a:solidFill>
              <a:latin typeface="Aptos Slab"/>
            </a:endParaRPr>
          </a:p>
          <a:p>
            <a:r>
              <a:rPr lang="pt-BR" dirty="0">
                <a:solidFill>
                  <a:srgbClr val="FFFFFF"/>
                </a:solidFill>
                <a:latin typeface="Aptos Slab"/>
                <a:ea typeface="+mn-lt"/>
                <a:cs typeface="+mn-lt"/>
              </a:rPr>
              <a:t>INC     RAND_L </a:t>
            </a:r>
            <a:br>
              <a:rPr lang="pt-BR" dirty="0">
                <a:solidFill>
                  <a:srgbClr val="FFFFFF"/>
                </a:solidFill>
                <a:latin typeface="Aptos Slab"/>
                <a:ea typeface="+mn-lt"/>
                <a:cs typeface="+mn-lt"/>
              </a:rPr>
            </a:br>
            <a:r>
              <a:rPr lang="pt-BR" dirty="0">
                <a:solidFill>
                  <a:srgbClr val="FFFFFF"/>
                </a:solidFill>
                <a:latin typeface="Aptos Slab"/>
                <a:ea typeface="+mn-lt"/>
                <a:cs typeface="+mn-lt"/>
              </a:rPr>
              <a:t>BRNE    </a:t>
            </a:r>
            <a:r>
              <a:rPr lang="pt-BR" dirty="0" err="1">
                <a:solidFill>
                  <a:srgbClr val="FFFFFF"/>
                </a:solidFill>
                <a:latin typeface="Aptos Slab"/>
                <a:ea typeface="+mn-lt"/>
                <a:cs typeface="+mn-lt"/>
              </a:rPr>
              <a:t>isr_mux_check</a:t>
            </a:r>
            <a:br>
              <a:rPr lang="pt-BR" dirty="0">
                <a:solidFill>
                  <a:srgbClr val="FFFFFF"/>
                </a:solidFill>
                <a:latin typeface="Aptos Slab"/>
                <a:ea typeface="+mn-lt"/>
                <a:cs typeface="+mn-lt"/>
              </a:rPr>
            </a:br>
            <a:r>
              <a:rPr lang="pt-BR" dirty="0">
                <a:solidFill>
                  <a:srgbClr val="FFFFFF"/>
                </a:solidFill>
                <a:latin typeface="Aptos Slab"/>
                <a:ea typeface="+mn-lt"/>
                <a:cs typeface="+mn-lt"/>
              </a:rPr>
              <a:t>LDI     RAND_L, 0x01</a:t>
            </a:r>
            <a:endParaRPr lang="pt-BR" dirty="0"/>
          </a:p>
          <a:p>
            <a:endParaRPr lang="pt-BR" dirty="0">
              <a:solidFill>
                <a:schemeClr val="bg1"/>
              </a:solidFill>
              <a:latin typeface="Aptos" panose="020B0004020202020204"/>
              <a:ea typeface="+mn-lt"/>
              <a:cs typeface="+mn-lt"/>
            </a:endParaRPr>
          </a:p>
          <a:p>
            <a:r>
              <a:rPr lang="pt-BR" b="1">
                <a:solidFill>
                  <a:schemeClr val="bg1"/>
                </a:solidFill>
              </a:rPr>
              <a:t>POWER</a:t>
            </a:r>
            <a:endParaRPr lang="pt-BR" b="1" dirty="0">
              <a:solidFill>
                <a:schemeClr val="bg1"/>
              </a:solidFill>
            </a:endParaRPr>
          </a:p>
          <a:p>
            <a:r>
              <a:rPr lang="pt-BR">
                <a:solidFill>
                  <a:srgbClr val="FFFFFF"/>
                </a:solidFill>
                <a:latin typeface="Aptos Slab"/>
                <a:ea typeface="+mn-lt"/>
                <a:cs typeface="+mn-lt"/>
              </a:rPr>
              <a:t>Já neste, é realizado o controle do botão de energia para ligar, desligar e resetar</a:t>
            </a:r>
            <a:br>
              <a:rPr lang="pt-BR" dirty="0">
                <a:solidFill>
                  <a:srgbClr val="FFFFFF"/>
                </a:solidFill>
                <a:latin typeface="Aptos Slab"/>
                <a:ea typeface="+mn-lt"/>
                <a:cs typeface="+mn-lt"/>
              </a:rPr>
            </a:br>
            <a:r>
              <a:rPr lang="pt-BR">
                <a:solidFill>
                  <a:srgbClr val="FFFFFF"/>
                </a:solidFill>
                <a:latin typeface="Aptos Slab"/>
                <a:ea typeface="+mn-lt"/>
                <a:cs typeface="+mn-lt"/>
              </a:rPr>
              <a:t>o Bingo.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35764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5A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74EF7C-D0CE-30BB-4DDC-0027F5277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5617B43-B1B5-A80E-91C8-507568114819}"/>
              </a:ext>
            </a:extLst>
          </p:cNvPr>
          <p:cNvSpPr/>
          <p:nvPr/>
        </p:nvSpPr>
        <p:spPr>
          <a:xfrm>
            <a:off x="3222289" y="-6750"/>
            <a:ext cx="7398470" cy="6867682"/>
          </a:xfrm>
          <a:prstGeom prst="rect">
            <a:avLst/>
          </a:prstGeom>
          <a:solidFill>
            <a:srgbClr val="460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6F1F185-CD4F-B25F-8023-30D34FAC1254}"/>
              </a:ext>
            </a:extLst>
          </p:cNvPr>
          <p:cNvSpPr/>
          <p:nvPr/>
        </p:nvSpPr>
        <p:spPr>
          <a:xfrm>
            <a:off x="10329398" y="5802289"/>
            <a:ext cx="855306" cy="691287"/>
          </a:xfrm>
          <a:prstGeom prst="roundRect">
            <a:avLst/>
          </a:prstGeom>
          <a:solidFill>
            <a:srgbClr val="460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3">
            <a:extLst>
              <a:ext uri="{FF2B5EF4-FFF2-40B4-BE49-F238E27FC236}">
                <a16:creationId xmlns:a16="http://schemas.microsoft.com/office/drawing/2014/main" id="{4AD70167-AC10-E523-0AF4-8398CF8C0342}"/>
              </a:ext>
            </a:extLst>
          </p:cNvPr>
          <p:cNvSpPr/>
          <p:nvPr/>
        </p:nvSpPr>
        <p:spPr>
          <a:xfrm>
            <a:off x="993797" y="-6750"/>
            <a:ext cx="8778697" cy="6882059"/>
          </a:xfrm>
          <a:prstGeom prst="rect">
            <a:avLst/>
          </a:prstGeom>
          <a:solidFill>
            <a:srgbClr val="E02C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D6F9138-E4C0-2B25-A8D3-6C6947064E1C}"/>
              </a:ext>
            </a:extLst>
          </p:cNvPr>
          <p:cNvSpPr/>
          <p:nvPr/>
        </p:nvSpPr>
        <p:spPr>
          <a:xfrm>
            <a:off x="9466755" y="4896514"/>
            <a:ext cx="855306" cy="691287"/>
          </a:xfrm>
          <a:prstGeom prst="roundRect">
            <a:avLst/>
          </a:prstGeom>
          <a:solidFill>
            <a:srgbClr val="E02C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3">
            <a:extLst>
              <a:ext uri="{FF2B5EF4-FFF2-40B4-BE49-F238E27FC236}">
                <a16:creationId xmlns:a16="http://schemas.microsoft.com/office/drawing/2014/main" id="{BB41F9D8-E2E4-E127-E6FC-07B769D443D1}"/>
              </a:ext>
            </a:extLst>
          </p:cNvPr>
          <p:cNvSpPr/>
          <p:nvPr/>
        </p:nvSpPr>
        <p:spPr>
          <a:xfrm>
            <a:off x="993799" y="-179276"/>
            <a:ext cx="7844168" cy="7054587"/>
          </a:xfrm>
          <a:prstGeom prst="rect">
            <a:avLst/>
          </a:prstGeom>
          <a:solidFill>
            <a:srgbClr val="03AE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D5B205F-D303-B43F-7D22-35732D09288A}"/>
              </a:ext>
            </a:extLst>
          </p:cNvPr>
          <p:cNvSpPr/>
          <p:nvPr/>
        </p:nvSpPr>
        <p:spPr>
          <a:xfrm>
            <a:off x="8604115" y="3818214"/>
            <a:ext cx="855306" cy="691287"/>
          </a:xfrm>
          <a:prstGeom prst="roundRect">
            <a:avLst/>
          </a:prstGeom>
          <a:solidFill>
            <a:srgbClr val="03AE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3">
            <a:extLst>
              <a:ext uri="{FF2B5EF4-FFF2-40B4-BE49-F238E27FC236}">
                <a16:creationId xmlns:a16="http://schemas.microsoft.com/office/drawing/2014/main" id="{B50ED0B1-24A4-7328-4CE4-14DD3306BB30}"/>
              </a:ext>
            </a:extLst>
          </p:cNvPr>
          <p:cNvSpPr/>
          <p:nvPr/>
        </p:nvSpPr>
        <p:spPr>
          <a:xfrm>
            <a:off x="-3391297" y="-193655"/>
            <a:ext cx="5486282" cy="7040210"/>
          </a:xfrm>
          <a:prstGeom prst="rect">
            <a:avLst/>
          </a:prstGeom>
          <a:solidFill>
            <a:srgbClr val="FF9F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84435D2-2F6F-0957-B9B9-E4E6AA7B330F}"/>
              </a:ext>
            </a:extLst>
          </p:cNvPr>
          <p:cNvSpPr/>
          <p:nvPr/>
        </p:nvSpPr>
        <p:spPr>
          <a:xfrm>
            <a:off x="1803624" y="2883685"/>
            <a:ext cx="855306" cy="691287"/>
          </a:xfrm>
          <a:prstGeom prst="roundRect">
            <a:avLst/>
          </a:prstGeom>
          <a:solidFill>
            <a:srgbClr val="FF9F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3">
            <a:extLst>
              <a:ext uri="{FF2B5EF4-FFF2-40B4-BE49-F238E27FC236}">
                <a16:creationId xmlns:a16="http://schemas.microsoft.com/office/drawing/2014/main" id="{92682C50-5911-F549-E022-3A0724B699FC}"/>
              </a:ext>
            </a:extLst>
          </p:cNvPr>
          <p:cNvSpPr/>
          <p:nvPr/>
        </p:nvSpPr>
        <p:spPr>
          <a:xfrm>
            <a:off x="-4282694" y="-179276"/>
            <a:ext cx="5486282" cy="7040209"/>
          </a:xfrm>
          <a:prstGeom prst="rect">
            <a:avLst/>
          </a:prstGeom>
          <a:solidFill>
            <a:srgbClr val="FFE5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FBD044F-2766-58C0-BCE5-8B0765867CC7}"/>
              </a:ext>
            </a:extLst>
          </p:cNvPr>
          <p:cNvSpPr/>
          <p:nvPr/>
        </p:nvSpPr>
        <p:spPr>
          <a:xfrm>
            <a:off x="940982" y="1877270"/>
            <a:ext cx="855306" cy="691287"/>
          </a:xfrm>
          <a:prstGeom prst="roundRect">
            <a:avLst/>
          </a:prstGeom>
          <a:solidFill>
            <a:srgbClr val="FFE5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B9A2EA0-222B-46F6-7ABA-C1FE3524622C}"/>
              </a:ext>
            </a:extLst>
          </p:cNvPr>
          <p:cNvSpPr txBox="1"/>
          <p:nvPr/>
        </p:nvSpPr>
        <p:spPr>
          <a:xfrm>
            <a:off x="3223169" y="1991997"/>
            <a:ext cx="4494244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chemeClr val="bg1"/>
                </a:solidFill>
              </a:rPr>
              <a:t>HARDWARE</a:t>
            </a:r>
            <a:endParaRPr lang="pt-BR" b="1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  <a:latin typeface="Aptos Slab"/>
                <a:ea typeface="+mn-lt"/>
                <a:cs typeface="+mn-lt"/>
              </a:rPr>
              <a:t>Este arquivo configura os pinos físicos, prepara o relógio interno do </a:t>
            </a:r>
            <a:r>
              <a:rPr lang="pt-BR">
                <a:solidFill>
                  <a:schemeClr val="bg1"/>
                </a:solidFill>
                <a:latin typeface="Aptos Slab"/>
                <a:ea typeface="+mn-lt"/>
                <a:cs typeface="+mn-lt"/>
              </a:rPr>
              <a:t>microcontrolador</a:t>
            </a:r>
            <a:r>
              <a:rPr lang="pt-BR" dirty="0">
                <a:solidFill>
                  <a:schemeClr val="bg1"/>
                </a:solidFill>
                <a:latin typeface="Aptos Slab"/>
                <a:ea typeface="+mn-lt"/>
                <a:cs typeface="+mn-lt"/>
              </a:rPr>
              <a:t> e diz quando um</a:t>
            </a:r>
            <a:endParaRPr lang="pt-BR">
              <a:solidFill>
                <a:schemeClr val="bg1"/>
              </a:solidFill>
              <a:latin typeface="Aptos Slab"/>
            </a:endParaRPr>
          </a:p>
          <a:p>
            <a:r>
              <a:rPr lang="pt-BR">
                <a:solidFill>
                  <a:schemeClr val="bg1"/>
                </a:solidFill>
                <a:latin typeface="Aptos Slab"/>
                <a:ea typeface="+mn-lt"/>
                <a:cs typeface="+mn-lt"/>
              </a:rPr>
              <a:t>alarme (Interrupção) tocar.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b="1">
                <a:solidFill>
                  <a:schemeClr val="bg1"/>
                </a:solidFill>
              </a:rPr>
              <a:t>POWER</a:t>
            </a:r>
            <a:endParaRPr lang="pt-BR" b="1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rgbClr val="FFFFFF"/>
                </a:solidFill>
                <a:latin typeface="Aptos Slab"/>
                <a:ea typeface="+mn-lt"/>
                <a:cs typeface="+mn-lt"/>
              </a:rPr>
              <a:t>IN      TEMP, PINC</a:t>
            </a:r>
            <a:br>
              <a:rPr lang="pt-BR" dirty="0">
                <a:solidFill>
                  <a:srgbClr val="FFFFFF"/>
                </a:solidFill>
                <a:latin typeface="Aptos Slab"/>
                <a:ea typeface="+mn-lt"/>
                <a:cs typeface="+mn-lt"/>
              </a:rPr>
            </a:br>
            <a:r>
              <a:rPr lang="pt-BR" dirty="0">
                <a:solidFill>
                  <a:srgbClr val="FFFFFF"/>
                </a:solidFill>
                <a:latin typeface="Aptos Slab"/>
                <a:ea typeface="+mn-lt"/>
                <a:cs typeface="+mn-lt"/>
              </a:rPr>
              <a:t>SBRS    TEMP, 1</a:t>
            </a:r>
            <a:br>
              <a:rPr lang="pt-BR" dirty="0">
                <a:solidFill>
                  <a:srgbClr val="FFFFFF"/>
                </a:solidFill>
                <a:latin typeface="Aptos Slab"/>
                <a:ea typeface="+mn-lt"/>
                <a:cs typeface="+mn-lt"/>
              </a:rPr>
            </a:br>
            <a:r>
              <a:rPr lang="pt-BR" dirty="0">
                <a:solidFill>
                  <a:srgbClr val="FFFFFF"/>
                </a:solidFill>
                <a:latin typeface="Aptos Slab"/>
                <a:ea typeface="+mn-lt"/>
                <a:cs typeface="+mn-lt"/>
              </a:rPr>
              <a:t>RJMP    </a:t>
            </a:r>
            <a:r>
              <a:rPr lang="pt-BR" dirty="0" err="1">
                <a:solidFill>
                  <a:srgbClr val="FFFFFF"/>
                </a:solidFill>
                <a:latin typeface="Aptos Slab"/>
                <a:ea typeface="+mn-lt"/>
                <a:cs typeface="+mn-lt"/>
              </a:rPr>
              <a:t>espera_soltar_reset</a:t>
            </a:r>
            <a:r>
              <a:rPr lang="pt-BR" dirty="0">
                <a:solidFill>
                  <a:srgbClr val="FFFFFF"/>
                </a:solidFill>
                <a:latin typeface="Aptos Slab"/>
                <a:ea typeface="+mn-lt"/>
                <a:cs typeface="+mn-lt"/>
              </a:rPr>
              <a:t> </a:t>
            </a:r>
            <a:endParaRPr lang="pt-BR" dirty="0" err="1">
              <a:solidFill>
                <a:srgbClr val="000000"/>
              </a:solidFill>
              <a:latin typeface="Aptos" panose="020B0004020202020204"/>
              <a:ea typeface="+mn-lt"/>
              <a:cs typeface="+mn-lt"/>
            </a:endParaRPr>
          </a:p>
          <a:p>
            <a:r>
              <a:rPr lang="pt-BR">
                <a:solidFill>
                  <a:srgbClr val="FFFFFF"/>
                </a:solidFill>
                <a:latin typeface="Aptos Slab"/>
                <a:ea typeface="+mn-lt"/>
                <a:cs typeface="+mn-lt"/>
              </a:rPr>
              <a:t>RCALL   </a:t>
            </a:r>
            <a:r>
              <a:rPr lang="pt-BR" err="1">
                <a:solidFill>
                  <a:srgbClr val="FFFFFF"/>
                </a:solidFill>
                <a:latin typeface="Aptos Slab"/>
                <a:ea typeface="+mn-lt"/>
                <a:cs typeface="+mn-lt"/>
              </a:rPr>
              <a:t>delay_visual</a:t>
            </a:r>
            <a:endParaRPr lang="pt-BR" err="1">
              <a:solidFill>
                <a:srgbClr val="000000"/>
              </a:solidFill>
              <a:latin typeface="Aptos" panose="020B0004020202020204"/>
              <a:ea typeface="+mn-lt"/>
              <a:cs typeface="+mn-lt"/>
            </a:endParaRPr>
          </a:p>
          <a:p>
            <a:r>
              <a:rPr lang="pt-BR">
                <a:solidFill>
                  <a:srgbClr val="FFFFFF"/>
                </a:solidFill>
                <a:latin typeface="Aptos Slab"/>
                <a:ea typeface="+mn-lt"/>
                <a:cs typeface="+mn-lt"/>
              </a:rPr>
              <a:t>JMP     </a:t>
            </a:r>
            <a:r>
              <a:rPr lang="pt-BR" err="1">
                <a:solidFill>
                  <a:srgbClr val="FFFFFF"/>
                </a:solidFill>
                <a:latin typeface="Aptos Slab"/>
                <a:ea typeface="+mn-lt"/>
                <a:cs typeface="+mn-lt"/>
              </a:rPr>
              <a:t>main</a:t>
            </a:r>
            <a:endParaRPr lang="pt-BR"/>
          </a:p>
          <a:p>
            <a:endParaRPr lang="pt-BR" dirty="0">
              <a:solidFill>
                <a:srgbClr val="FFFFFF"/>
              </a:solidFill>
              <a:latin typeface="Aptos Slab"/>
            </a:endParaRPr>
          </a:p>
        </p:txBody>
      </p:sp>
    </p:spTree>
    <p:extLst>
      <p:ext uri="{BB962C8B-B14F-4D97-AF65-F5344CB8AC3E}">
        <p14:creationId xmlns:p14="http://schemas.microsoft.com/office/powerpoint/2010/main" val="36589456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5A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791E13-0E38-3CAE-0459-4DEAFC183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C9264FE1-42A1-0931-30D1-7F5414ECA70E}"/>
              </a:ext>
            </a:extLst>
          </p:cNvPr>
          <p:cNvSpPr/>
          <p:nvPr/>
        </p:nvSpPr>
        <p:spPr>
          <a:xfrm>
            <a:off x="3222289" y="-6750"/>
            <a:ext cx="7398470" cy="6867682"/>
          </a:xfrm>
          <a:prstGeom prst="rect">
            <a:avLst/>
          </a:prstGeom>
          <a:solidFill>
            <a:srgbClr val="460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465A4F42-1EBD-E039-B39C-F70CC6AF7439}"/>
              </a:ext>
            </a:extLst>
          </p:cNvPr>
          <p:cNvSpPr/>
          <p:nvPr/>
        </p:nvSpPr>
        <p:spPr>
          <a:xfrm>
            <a:off x="10329398" y="5802289"/>
            <a:ext cx="855306" cy="691287"/>
          </a:xfrm>
          <a:prstGeom prst="roundRect">
            <a:avLst/>
          </a:prstGeom>
          <a:solidFill>
            <a:srgbClr val="460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3">
            <a:extLst>
              <a:ext uri="{FF2B5EF4-FFF2-40B4-BE49-F238E27FC236}">
                <a16:creationId xmlns:a16="http://schemas.microsoft.com/office/drawing/2014/main" id="{2CB1F079-6045-1E9E-93E2-5918C67D15A4}"/>
              </a:ext>
            </a:extLst>
          </p:cNvPr>
          <p:cNvSpPr/>
          <p:nvPr/>
        </p:nvSpPr>
        <p:spPr>
          <a:xfrm>
            <a:off x="993797" y="-6750"/>
            <a:ext cx="8778697" cy="6882059"/>
          </a:xfrm>
          <a:prstGeom prst="rect">
            <a:avLst/>
          </a:prstGeom>
          <a:solidFill>
            <a:srgbClr val="E02C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ED87DD1-6555-6764-1F95-71814EAA2687}"/>
              </a:ext>
            </a:extLst>
          </p:cNvPr>
          <p:cNvSpPr/>
          <p:nvPr/>
        </p:nvSpPr>
        <p:spPr>
          <a:xfrm>
            <a:off x="9466755" y="4896514"/>
            <a:ext cx="855306" cy="691287"/>
          </a:xfrm>
          <a:prstGeom prst="roundRect">
            <a:avLst/>
          </a:prstGeom>
          <a:solidFill>
            <a:srgbClr val="E02C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3">
            <a:extLst>
              <a:ext uri="{FF2B5EF4-FFF2-40B4-BE49-F238E27FC236}">
                <a16:creationId xmlns:a16="http://schemas.microsoft.com/office/drawing/2014/main" id="{D465B767-2991-57A5-C933-A6029CC91B54}"/>
              </a:ext>
            </a:extLst>
          </p:cNvPr>
          <p:cNvSpPr/>
          <p:nvPr/>
        </p:nvSpPr>
        <p:spPr>
          <a:xfrm>
            <a:off x="993799" y="-179276"/>
            <a:ext cx="7844168" cy="7054587"/>
          </a:xfrm>
          <a:prstGeom prst="rect">
            <a:avLst/>
          </a:prstGeom>
          <a:solidFill>
            <a:srgbClr val="03AE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C013553F-ABFB-2375-47F2-E5A9F6B5E2A3}"/>
              </a:ext>
            </a:extLst>
          </p:cNvPr>
          <p:cNvSpPr/>
          <p:nvPr/>
        </p:nvSpPr>
        <p:spPr>
          <a:xfrm>
            <a:off x="8604115" y="3818214"/>
            <a:ext cx="855306" cy="691287"/>
          </a:xfrm>
          <a:prstGeom prst="roundRect">
            <a:avLst/>
          </a:prstGeom>
          <a:solidFill>
            <a:srgbClr val="03AE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3">
            <a:extLst>
              <a:ext uri="{FF2B5EF4-FFF2-40B4-BE49-F238E27FC236}">
                <a16:creationId xmlns:a16="http://schemas.microsoft.com/office/drawing/2014/main" id="{158A9BE7-2F51-8908-7E6C-7B57EE3D7CA9}"/>
              </a:ext>
            </a:extLst>
          </p:cNvPr>
          <p:cNvSpPr/>
          <p:nvPr/>
        </p:nvSpPr>
        <p:spPr>
          <a:xfrm>
            <a:off x="-803372" y="-179277"/>
            <a:ext cx="8778697" cy="7054587"/>
          </a:xfrm>
          <a:prstGeom prst="rect">
            <a:avLst/>
          </a:prstGeom>
          <a:solidFill>
            <a:srgbClr val="FF9F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E3C8BE4-50B1-D35F-ACE7-3EB1429594A9}"/>
              </a:ext>
            </a:extLst>
          </p:cNvPr>
          <p:cNvSpPr/>
          <p:nvPr/>
        </p:nvSpPr>
        <p:spPr>
          <a:xfrm>
            <a:off x="7741473" y="2739911"/>
            <a:ext cx="855306" cy="691287"/>
          </a:xfrm>
          <a:prstGeom prst="roundRect">
            <a:avLst/>
          </a:prstGeom>
          <a:solidFill>
            <a:srgbClr val="FF9F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3">
            <a:extLst>
              <a:ext uri="{FF2B5EF4-FFF2-40B4-BE49-F238E27FC236}">
                <a16:creationId xmlns:a16="http://schemas.microsoft.com/office/drawing/2014/main" id="{764EFC49-1066-A897-301D-AC512AE35378}"/>
              </a:ext>
            </a:extLst>
          </p:cNvPr>
          <p:cNvSpPr/>
          <p:nvPr/>
        </p:nvSpPr>
        <p:spPr>
          <a:xfrm>
            <a:off x="-4282694" y="-179276"/>
            <a:ext cx="5486282" cy="7040209"/>
          </a:xfrm>
          <a:prstGeom prst="rect">
            <a:avLst/>
          </a:prstGeom>
          <a:solidFill>
            <a:srgbClr val="FFE5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B25E9371-8DF3-FA3D-1095-A087D67BF5F1}"/>
              </a:ext>
            </a:extLst>
          </p:cNvPr>
          <p:cNvSpPr/>
          <p:nvPr/>
        </p:nvSpPr>
        <p:spPr>
          <a:xfrm>
            <a:off x="940982" y="1877270"/>
            <a:ext cx="855306" cy="691287"/>
          </a:xfrm>
          <a:prstGeom prst="roundRect">
            <a:avLst/>
          </a:prstGeom>
          <a:solidFill>
            <a:srgbClr val="FFE5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BA871B1-5E08-F168-AA8A-7980FCD93262}"/>
              </a:ext>
            </a:extLst>
          </p:cNvPr>
          <p:cNvSpPr txBox="1"/>
          <p:nvPr/>
        </p:nvSpPr>
        <p:spPr>
          <a:xfrm>
            <a:off x="2547433" y="1632563"/>
            <a:ext cx="4494244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chemeClr val="bg1"/>
                </a:solidFill>
              </a:rPr>
              <a:t>REGRAS</a:t>
            </a:r>
            <a:endParaRPr lang="pt-BR" b="1" dirty="0">
              <a:solidFill>
                <a:schemeClr val="bg1"/>
              </a:solidFill>
            </a:endParaRPr>
          </a:p>
          <a:p>
            <a:r>
              <a:rPr lang="pt-BR">
                <a:solidFill>
                  <a:schemeClr val="bg1"/>
                </a:solidFill>
                <a:latin typeface="Aptos Slab"/>
                <a:ea typeface="+mn-lt"/>
                <a:cs typeface="+mn-lt"/>
              </a:rPr>
              <a:t>Este módulo está responsável por controlar o fluxo do jogo, realizar o sorteio,</a:t>
            </a:r>
            <a:endParaRPr lang="pt-BR">
              <a:solidFill>
                <a:schemeClr val="bg1"/>
              </a:solidFill>
              <a:latin typeface="Aptos Slab"/>
            </a:endParaRPr>
          </a:p>
          <a:p>
            <a:r>
              <a:rPr lang="pt-BR">
                <a:solidFill>
                  <a:schemeClr val="bg1"/>
                </a:solidFill>
                <a:latin typeface="Aptos Slab"/>
                <a:ea typeface="+mn-lt"/>
                <a:cs typeface="+mn-lt"/>
              </a:rPr>
              <a:t>verificar se todos os números já foram sorteados e exibir uma mensagem de fim.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b="1">
                <a:solidFill>
                  <a:schemeClr val="bg1"/>
                </a:solidFill>
              </a:rPr>
              <a:t>SORTEIO</a:t>
            </a:r>
            <a:endParaRPr lang="pt-BR" b="1" dirty="0">
              <a:solidFill>
                <a:schemeClr val="bg1"/>
              </a:solidFill>
            </a:endParaRPr>
          </a:p>
          <a:p>
            <a:r>
              <a:rPr lang="pt-BR">
                <a:solidFill>
                  <a:srgbClr val="FFFFFF"/>
                </a:solidFill>
                <a:latin typeface="Aptos Slab"/>
                <a:ea typeface="+mn-lt"/>
                <a:cs typeface="+mn-lt"/>
              </a:rPr>
              <a:t>Gera números aleatórios, garante que estes não passem de 75, verifica se o</a:t>
            </a:r>
            <a:br>
              <a:rPr lang="pt-BR" dirty="0">
                <a:solidFill>
                  <a:srgbClr val="FFFFFF"/>
                </a:solidFill>
                <a:latin typeface="Aptos Slab"/>
                <a:ea typeface="+mn-lt"/>
                <a:cs typeface="+mn-lt"/>
              </a:rPr>
            </a:br>
            <a:r>
              <a:rPr lang="pt-BR">
                <a:solidFill>
                  <a:srgbClr val="FFFFFF"/>
                </a:solidFill>
                <a:latin typeface="Aptos Slab"/>
                <a:ea typeface="+mn-lt"/>
                <a:cs typeface="+mn-lt"/>
              </a:rPr>
              <a:t>número que foi gerado não foi sorteado ainda e quebra de previsibilidade da</a:t>
            </a:r>
            <a:br>
              <a:rPr lang="pt-BR" dirty="0">
                <a:solidFill>
                  <a:srgbClr val="FFFFFF"/>
                </a:solidFill>
                <a:latin typeface="Aptos Slab"/>
                <a:ea typeface="+mn-lt"/>
                <a:cs typeface="+mn-lt"/>
              </a:rPr>
            </a:br>
            <a:r>
              <a:rPr lang="pt-BR">
                <a:solidFill>
                  <a:srgbClr val="FFFFFF"/>
                </a:solidFill>
                <a:latin typeface="Aptos Slab"/>
                <a:ea typeface="+mn-lt"/>
                <a:cs typeface="+mn-lt"/>
              </a:rPr>
              <a:t>sequência.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3508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5A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D03200-D1E6-9561-9B44-FAA1D855D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3FD388A-8B57-916A-C488-50BB0296424C}"/>
              </a:ext>
            </a:extLst>
          </p:cNvPr>
          <p:cNvSpPr/>
          <p:nvPr/>
        </p:nvSpPr>
        <p:spPr>
          <a:xfrm>
            <a:off x="3222289" y="-6750"/>
            <a:ext cx="7398470" cy="6867682"/>
          </a:xfrm>
          <a:prstGeom prst="rect">
            <a:avLst/>
          </a:prstGeom>
          <a:solidFill>
            <a:srgbClr val="460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260CD1D-81AF-F425-E121-A3B3233CEDFD}"/>
              </a:ext>
            </a:extLst>
          </p:cNvPr>
          <p:cNvSpPr/>
          <p:nvPr/>
        </p:nvSpPr>
        <p:spPr>
          <a:xfrm>
            <a:off x="10329398" y="5802289"/>
            <a:ext cx="855306" cy="691287"/>
          </a:xfrm>
          <a:prstGeom prst="roundRect">
            <a:avLst/>
          </a:prstGeom>
          <a:solidFill>
            <a:srgbClr val="460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3">
            <a:extLst>
              <a:ext uri="{FF2B5EF4-FFF2-40B4-BE49-F238E27FC236}">
                <a16:creationId xmlns:a16="http://schemas.microsoft.com/office/drawing/2014/main" id="{70028BF7-2117-6471-574D-9F5BE8A9223A}"/>
              </a:ext>
            </a:extLst>
          </p:cNvPr>
          <p:cNvSpPr/>
          <p:nvPr/>
        </p:nvSpPr>
        <p:spPr>
          <a:xfrm>
            <a:off x="993797" y="-6750"/>
            <a:ext cx="8778697" cy="6882059"/>
          </a:xfrm>
          <a:prstGeom prst="rect">
            <a:avLst/>
          </a:prstGeom>
          <a:solidFill>
            <a:srgbClr val="E02C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341B6FC8-03C1-E952-ED55-0D8CC3355BFB}"/>
              </a:ext>
            </a:extLst>
          </p:cNvPr>
          <p:cNvSpPr/>
          <p:nvPr/>
        </p:nvSpPr>
        <p:spPr>
          <a:xfrm>
            <a:off x="9466755" y="4896514"/>
            <a:ext cx="855306" cy="691287"/>
          </a:xfrm>
          <a:prstGeom prst="roundRect">
            <a:avLst/>
          </a:prstGeom>
          <a:solidFill>
            <a:srgbClr val="E02C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3">
            <a:extLst>
              <a:ext uri="{FF2B5EF4-FFF2-40B4-BE49-F238E27FC236}">
                <a16:creationId xmlns:a16="http://schemas.microsoft.com/office/drawing/2014/main" id="{EC5259BB-E23E-3BDC-25BC-F395D8E1365B}"/>
              </a:ext>
            </a:extLst>
          </p:cNvPr>
          <p:cNvSpPr/>
          <p:nvPr/>
        </p:nvSpPr>
        <p:spPr>
          <a:xfrm>
            <a:off x="993799" y="-179276"/>
            <a:ext cx="7844168" cy="7054587"/>
          </a:xfrm>
          <a:prstGeom prst="rect">
            <a:avLst/>
          </a:prstGeom>
          <a:solidFill>
            <a:srgbClr val="03AE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FB63E323-CFAB-DBC1-35F0-CFB6B7D0E539}"/>
              </a:ext>
            </a:extLst>
          </p:cNvPr>
          <p:cNvSpPr/>
          <p:nvPr/>
        </p:nvSpPr>
        <p:spPr>
          <a:xfrm>
            <a:off x="8604115" y="3818214"/>
            <a:ext cx="855306" cy="691287"/>
          </a:xfrm>
          <a:prstGeom prst="roundRect">
            <a:avLst/>
          </a:prstGeom>
          <a:solidFill>
            <a:srgbClr val="03AE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3">
            <a:extLst>
              <a:ext uri="{FF2B5EF4-FFF2-40B4-BE49-F238E27FC236}">
                <a16:creationId xmlns:a16="http://schemas.microsoft.com/office/drawing/2014/main" id="{199D01AE-B8EE-D1FF-5368-D2042AB4BFB4}"/>
              </a:ext>
            </a:extLst>
          </p:cNvPr>
          <p:cNvSpPr/>
          <p:nvPr/>
        </p:nvSpPr>
        <p:spPr>
          <a:xfrm>
            <a:off x="-803372" y="-179277"/>
            <a:ext cx="8778697" cy="7054587"/>
          </a:xfrm>
          <a:prstGeom prst="rect">
            <a:avLst/>
          </a:prstGeom>
          <a:solidFill>
            <a:srgbClr val="FF9F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65CF0FD5-FB96-A932-F295-AD0CF4A32D10}"/>
              </a:ext>
            </a:extLst>
          </p:cNvPr>
          <p:cNvSpPr/>
          <p:nvPr/>
        </p:nvSpPr>
        <p:spPr>
          <a:xfrm>
            <a:off x="7741473" y="2739911"/>
            <a:ext cx="855306" cy="691287"/>
          </a:xfrm>
          <a:prstGeom prst="roundRect">
            <a:avLst/>
          </a:prstGeom>
          <a:solidFill>
            <a:srgbClr val="FF9F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3">
            <a:extLst>
              <a:ext uri="{FF2B5EF4-FFF2-40B4-BE49-F238E27FC236}">
                <a16:creationId xmlns:a16="http://schemas.microsoft.com/office/drawing/2014/main" id="{6D8A2C07-A435-6515-BE21-107C59419663}"/>
              </a:ext>
            </a:extLst>
          </p:cNvPr>
          <p:cNvSpPr/>
          <p:nvPr/>
        </p:nvSpPr>
        <p:spPr>
          <a:xfrm>
            <a:off x="-4282694" y="-179276"/>
            <a:ext cx="5486282" cy="7040209"/>
          </a:xfrm>
          <a:prstGeom prst="rect">
            <a:avLst/>
          </a:prstGeom>
          <a:solidFill>
            <a:srgbClr val="FFE5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36BABFC-EFC9-258A-7321-5E61E87905C6}"/>
              </a:ext>
            </a:extLst>
          </p:cNvPr>
          <p:cNvSpPr/>
          <p:nvPr/>
        </p:nvSpPr>
        <p:spPr>
          <a:xfrm>
            <a:off x="940982" y="1877270"/>
            <a:ext cx="855306" cy="691287"/>
          </a:xfrm>
          <a:prstGeom prst="roundRect">
            <a:avLst/>
          </a:prstGeom>
          <a:solidFill>
            <a:srgbClr val="FFE5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732B4ED-41B3-AD73-22DE-42FDD42D73E7}"/>
              </a:ext>
            </a:extLst>
          </p:cNvPr>
          <p:cNvSpPr txBox="1"/>
          <p:nvPr/>
        </p:nvSpPr>
        <p:spPr>
          <a:xfrm>
            <a:off x="2547433" y="1445657"/>
            <a:ext cx="4494244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chemeClr val="bg1"/>
                </a:solidFill>
              </a:rPr>
              <a:t>REGRAS</a:t>
            </a:r>
            <a:endParaRPr lang="pt-BR" b="1" dirty="0">
              <a:solidFill>
                <a:schemeClr val="bg1"/>
              </a:solidFill>
            </a:endParaRPr>
          </a:p>
          <a:p>
            <a:r>
              <a:rPr lang="pt-BR">
                <a:solidFill>
                  <a:schemeClr val="bg1"/>
                </a:solidFill>
                <a:latin typeface="Aptos Slab"/>
                <a:ea typeface="+mn-lt"/>
                <a:cs typeface="+mn-lt"/>
              </a:rPr>
              <a:t>CPI COUNT, BINGO_MAX</a:t>
            </a:r>
            <a:endParaRPr lang="pt-BR">
              <a:solidFill>
                <a:srgbClr val="000000"/>
              </a:solidFill>
              <a:latin typeface="Aptos Slab"/>
              <a:ea typeface="+mn-lt"/>
              <a:cs typeface="+mn-lt"/>
            </a:endParaRPr>
          </a:p>
          <a:p>
            <a:r>
              <a:rPr lang="pt-BR" dirty="0">
                <a:solidFill>
                  <a:schemeClr val="bg1"/>
                </a:solidFill>
                <a:latin typeface="Aptos Slab"/>
                <a:ea typeface="+mn-lt"/>
                <a:cs typeface="+mn-lt"/>
              </a:rPr>
              <a:t>BRSH </a:t>
            </a:r>
            <a:r>
              <a:rPr lang="pt-BR" dirty="0" err="1">
                <a:solidFill>
                  <a:schemeClr val="bg1"/>
                </a:solidFill>
                <a:latin typeface="Aptos Slab"/>
                <a:ea typeface="+mn-lt"/>
                <a:cs typeface="+mn-lt"/>
              </a:rPr>
              <a:t>sorteio_esgotado</a:t>
            </a:r>
            <a:endParaRPr lang="pt-BR">
              <a:solidFill>
                <a:schemeClr val="bg1"/>
              </a:solidFill>
              <a:latin typeface="Aptos Slab"/>
              <a:ea typeface="+mn-lt"/>
              <a:cs typeface="+mn-lt"/>
            </a:endParaRPr>
          </a:p>
          <a:p>
            <a:r>
              <a:rPr lang="pt-BR" dirty="0">
                <a:solidFill>
                  <a:schemeClr val="bg1"/>
                </a:solidFill>
                <a:latin typeface="Aptos Slab"/>
                <a:ea typeface="+mn-lt"/>
                <a:cs typeface="+mn-lt"/>
              </a:rPr>
              <a:t>RCALL </a:t>
            </a:r>
            <a:r>
              <a:rPr lang="pt-BR" dirty="0" err="1">
                <a:solidFill>
                  <a:schemeClr val="bg1"/>
                </a:solidFill>
                <a:latin typeface="Aptos Slab"/>
                <a:ea typeface="+mn-lt"/>
                <a:cs typeface="+mn-lt"/>
              </a:rPr>
              <a:t>busca_numero</a:t>
            </a:r>
            <a:endParaRPr lang="pt-BR">
              <a:solidFill>
                <a:schemeClr val="bg1"/>
              </a:solidFill>
              <a:latin typeface="Aptos Slab"/>
              <a:ea typeface="+mn-lt"/>
              <a:cs typeface="+mn-lt"/>
            </a:endParaRPr>
          </a:p>
          <a:p>
            <a:r>
              <a:rPr lang="pt-BR" dirty="0">
                <a:solidFill>
                  <a:schemeClr val="bg1"/>
                </a:solidFill>
                <a:latin typeface="Aptos Slab"/>
                <a:ea typeface="+mn-lt"/>
                <a:cs typeface="+mn-lt"/>
              </a:rPr>
              <a:t>RCALL </a:t>
            </a:r>
            <a:r>
              <a:rPr lang="pt-BR" dirty="0" err="1">
                <a:solidFill>
                  <a:schemeClr val="bg1"/>
                </a:solidFill>
                <a:latin typeface="Aptos Slab"/>
                <a:ea typeface="+mn-lt"/>
                <a:cs typeface="+mn-lt"/>
              </a:rPr>
              <a:t>atualiza_display</a:t>
            </a:r>
            <a:endParaRPr lang="pt-BR">
              <a:solidFill>
                <a:schemeClr val="bg1"/>
              </a:solidFill>
              <a:latin typeface="Aptos Slab"/>
              <a:ea typeface="+mn-lt"/>
              <a:cs typeface="+mn-lt"/>
            </a:endParaRPr>
          </a:p>
          <a:p>
            <a:r>
              <a:rPr lang="pt-BR">
                <a:solidFill>
                  <a:schemeClr val="bg1"/>
                </a:solidFill>
                <a:latin typeface="Aptos Slab"/>
                <a:ea typeface="+mn-lt"/>
                <a:cs typeface="+mn-lt"/>
              </a:rPr>
              <a:t>CPI COUNT, BINGO_MAX +1</a:t>
            </a:r>
            <a:endParaRPr lang="en-US">
              <a:solidFill>
                <a:srgbClr val="000000"/>
              </a:solidFill>
              <a:latin typeface="Aptos Slab"/>
              <a:ea typeface="+mn-lt"/>
              <a:cs typeface="+mn-lt"/>
            </a:endParaRPr>
          </a:p>
          <a:p>
            <a:r>
              <a:rPr lang="pt-BR" dirty="0">
                <a:solidFill>
                  <a:schemeClr val="bg1"/>
                </a:solidFill>
                <a:latin typeface="Aptos Slab"/>
                <a:ea typeface="+mn-lt"/>
                <a:cs typeface="+mn-lt"/>
              </a:rPr>
              <a:t>BRLO </a:t>
            </a:r>
            <a:r>
              <a:rPr lang="pt-BR" dirty="0" err="1">
                <a:solidFill>
                  <a:schemeClr val="bg1"/>
                </a:solidFill>
                <a:latin typeface="Aptos Slab"/>
                <a:ea typeface="+mn-lt"/>
                <a:cs typeface="+mn-lt"/>
              </a:rPr>
              <a:t>sorteio_ok</a:t>
            </a:r>
            <a:endParaRPr lang="pt-BR">
              <a:solidFill>
                <a:schemeClr val="bg1"/>
              </a:solidFill>
              <a:latin typeface="Aptos Slab"/>
              <a:ea typeface="+mn-lt"/>
              <a:cs typeface="+mn-lt"/>
            </a:endParaRPr>
          </a:p>
          <a:p>
            <a:r>
              <a:rPr lang="pt-BR">
                <a:solidFill>
                  <a:schemeClr val="bg1"/>
                </a:solidFill>
                <a:latin typeface="Aptos Slab"/>
                <a:ea typeface="+mn-lt"/>
                <a:cs typeface="+mn-lt"/>
              </a:rPr>
              <a:t>SBR FLAGS, (1&lt;&lt;1)</a:t>
            </a:r>
            <a:endParaRPr lang="pt-BR"/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b="1">
                <a:solidFill>
                  <a:schemeClr val="bg1"/>
                </a:solidFill>
              </a:rPr>
              <a:t>SORTEIO</a:t>
            </a:r>
            <a:endParaRPr lang="pt-BR" b="1" dirty="0">
              <a:solidFill>
                <a:schemeClr val="bg1"/>
              </a:solidFill>
            </a:endParaRPr>
          </a:p>
          <a:p>
            <a:r>
              <a:rPr lang="pt-BR">
                <a:solidFill>
                  <a:srgbClr val="FFFFFF"/>
                </a:solidFill>
                <a:latin typeface="Aptos Slab"/>
              </a:rPr>
              <a:t>Gera números </a:t>
            </a:r>
            <a:r>
              <a:rPr lang="pt-BR">
                <a:solidFill>
                  <a:schemeClr val="bg1"/>
                </a:solidFill>
                <a:latin typeface="Aptos Slab"/>
              </a:rPr>
              <a:t>aleatórios, garante que estes não passem de 75</a:t>
            </a:r>
            <a:r>
              <a:rPr lang="pt-BR">
                <a:solidFill>
                  <a:srgbClr val="FFFFFF"/>
                </a:solidFill>
                <a:latin typeface="Aptos Slab"/>
              </a:rPr>
              <a:t>, verifica se o</a:t>
            </a:r>
            <a:br>
              <a:rPr lang="pt-BR" dirty="0">
                <a:solidFill>
                  <a:srgbClr val="FFFFFF"/>
                </a:solidFill>
                <a:latin typeface="Aptos Slab"/>
              </a:rPr>
            </a:br>
            <a:r>
              <a:rPr lang="pt-BR">
                <a:solidFill>
                  <a:srgbClr val="FFFFFF"/>
                </a:solidFill>
                <a:latin typeface="Aptos Slab"/>
              </a:rPr>
              <a:t>número que foi gerado não foi sorteado ainda e quebra de previsibilidade da</a:t>
            </a:r>
            <a:br>
              <a:rPr lang="pt-BR" dirty="0">
                <a:solidFill>
                  <a:srgbClr val="FFFFFF"/>
                </a:solidFill>
                <a:latin typeface="Aptos Slab"/>
              </a:rPr>
            </a:br>
            <a:r>
              <a:rPr lang="pt-BR">
                <a:solidFill>
                  <a:srgbClr val="FFFFFF"/>
                </a:solidFill>
                <a:latin typeface="Aptos Slab"/>
              </a:rPr>
              <a:t>sequência.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0073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5A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2BE2C9-02FF-1B71-2E27-6745F06AB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637FC2F7-9721-539B-6FC4-B2C03D1E4CE1}"/>
              </a:ext>
            </a:extLst>
          </p:cNvPr>
          <p:cNvSpPr/>
          <p:nvPr/>
        </p:nvSpPr>
        <p:spPr>
          <a:xfrm>
            <a:off x="3222289" y="-6750"/>
            <a:ext cx="7398470" cy="6867682"/>
          </a:xfrm>
          <a:prstGeom prst="rect">
            <a:avLst/>
          </a:prstGeom>
          <a:solidFill>
            <a:srgbClr val="460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6F9809C4-97DA-2E97-7748-FE0D2AC9825B}"/>
              </a:ext>
            </a:extLst>
          </p:cNvPr>
          <p:cNvSpPr/>
          <p:nvPr/>
        </p:nvSpPr>
        <p:spPr>
          <a:xfrm>
            <a:off x="10329398" y="5802289"/>
            <a:ext cx="855306" cy="691287"/>
          </a:xfrm>
          <a:prstGeom prst="roundRect">
            <a:avLst/>
          </a:prstGeom>
          <a:solidFill>
            <a:srgbClr val="460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3">
            <a:extLst>
              <a:ext uri="{FF2B5EF4-FFF2-40B4-BE49-F238E27FC236}">
                <a16:creationId xmlns:a16="http://schemas.microsoft.com/office/drawing/2014/main" id="{5405E250-E333-E19D-1834-4298D5B7C87F}"/>
              </a:ext>
            </a:extLst>
          </p:cNvPr>
          <p:cNvSpPr/>
          <p:nvPr/>
        </p:nvSpPr>
        <p:spPr>
          <a:xfrm>
            <a:off x="993797" y="-6750"/>
            <a:ext cx="8778697" cy="6882059"/>
          </a:xfrm>
          <a:prstGeom prst="rect">
            <a:avLst/>
          </a:prstGeom>
          <a:solidFill>
            <a:srgbClr val="E02C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29C2D15-857E-647A-B935-8F1AF591838A}"/>
              </a:ext>
            </a:extLst>
          </p:cNvPr>
          <p:cNvSpPr/>
          <p:nvPr/>
        </p:nvSpPr>
        <p:spPr>
          <a:xfrm>
            <a:off x="9466755" y="4896514"/>
            <a:ext cx="855306" cy="691287"/>
          </a:xfrm>
          <a:prstGeom prst="roundRect">
            <a:avLst/>
          </a:prstGeom>
          <a:solidFill>
            <a:srgbClr val="E02C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3">
            <a:extLst>
              <a:ext uri="{FF2B5EF4-FFF2-40B4-BE49-F238E27FC236}">
                <a16:creationId xmlns:a16="http://schemas.microsoft.com/office/drawing/2014/main" id="{EA43E966-1F72-0F3F-2480-194A127FA41D}"/>
              </a:ext>
            </a:extLst>
          </p:cNvPr>
          <p:cNvSpPr/>
          <p:nvPr/>
        </p:nvSpPr>
        <p:spPr>
          <a:xfrm>
            <a:off x="993799" y="-179276"/>
            <a:ext cx="7844168" cy="7054587"/>
          </a:xfrm>
          <a:prstGeom prst="rect">
            <a:avLst/>
          </a:prstGeom>
          <a:solidFill>
            <a:srgbClr val="03AE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0A3109AD-24F6-BDC1-BD52-307E2B421BD2}"/>
              </a:ext>
            </a:extLst>
          </p:cNvPr>
          <p:cNvSpPr/>
          <p:nvPr/>
        </p:nvSpPr>
        <p:spPr>
          <a:xfrm>
            <a:off x="8604115" y="3818214"/>
            <a:ext cx="855306" cy="691287"/>
          </a:xfrm>
          <a:prstGeom prst="roundRect">
            <a:avLst/>
          </a:prstGeom>
          <a:solidFill>
            <a:srgbClr val="03AE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3">
            <a:extLst>
              <a:ext uri="{FF2B5EF4-FFF2-40B4-BE49-F238E27FC236}">
                <a16:creationId xmlns:a16="http://schemas.microsoft.com/office/drawing/2014/main" id="{9E8163B3-6110-B91D-8F48-D76F9951C969}"/>
              </a:ext>
            </a:extLst>
          </p:cNvPr>
          <p:cNvSpPr/>
          <p:nvPr/>
        </p:nvSpPr>
        <p:spPr>
          <a:xfrm>
            <a:off x="-803372" y="-179277"/>
            <a:ext cx="8778697" cy="7054587"/>
          </a:xfrm>
          <a:prstGeom prst="rect">
            <a:avLst/>
          </a:prstGeom>
          <a:solidFill>
            <a:srgbClr val="FF9F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8003D19E-EDFD-6DBA-523E-791A5078B584}"/>
              </a:ext>
            </a:extLst>
          </p:cNvPr>
          <p:cNvSpPr/>
          <p:nvPr/>
        </p:nvSpPr>
        <p:spPr>
          <a:xfrm>
            <a:off x="7741473" y="2739911"/>
            <a:ext cx="855306" cy="691287"/>
          </a:xfrm>
          <a:prstGeom prst="roundRect">
            <a:avLst/>
          </a:prstGeom>
          <a:solidFill>
            <a:srgbClr val="FF9F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3">
            <a:extLst>
              <a:ext uri="{FF2B5EF4-FFF2-40B4-BE49-F238E27FC236}">
                <a16:creationId xmlns:a16="http://schemas.microsoft.com/office/drawing/2014/main" id="{3AFAC966-5BCE-8DF7-A96F-25A7C2807127}"/>
              </a:ext>
            </a:extLst>
          </p:cNvPr>
          <p:cNvSpPr/>
          <p:nvPr/>
        </p:nvSpPr>
        <p:spPr>
          <a:xfrm>
            <a:off x="-4282694" y="-179276"/>
            <a:ext cx="5486282" cy="7040209"/>
          </a:xfrm>
          <a:prstGeom prst="rect">
            <a:avLst/>
          </a:prstGeom>
          <a:solidFill>
            <a:srgbClr val="FFE5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A3E7B642-0377-ADEF-1B25-816D798A94C1}"/>
              </a:ext>
            </a:extLst>
          </p:cNvPr>
          <p:cNvSpPr/>
          <p:nvPr/>
        </p:nvSpPr>
        <p:spPr>
          <a:xfrm>
            <a:off x="940982" y="1877270"/>
            <a:ext cx="855306" cy="691287"/>
          </a:xfrm>
          <a:prstGeom prst="roundRect">
            <a:avLst/>
          </a:prstGeom>
          <a:solidFill>
            <a:srgbClr val="FFE5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F52D425-FDC9-742F-4A15-090B8BBC1FC5}"/>
              </a:ext>
            </a:extLst>
          </p:cNvPr>
          <p:cNvSpPr txBox="1"/>
          <p:nvPr/>
        </p:nvSpPr>
        <p:spPr>
          <a:xfrm>
            <a:off x="2418037" y="1589431"/>
            <a:ext cx="4494244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chemeClr val="bg1"/>
                </a:solidFill>
              </a:rPr>
              <a:t>REGRAS</a:t>
            </a:r>
            <a:endParaRPr lang="pt-BR" b="1" dirty="0">
              <a:solidFill>
                <a:schemeClr val="bg1"/>
              </a:solidFill>
            </a:endParaRPr>
          </a:p>
          <a:p>
            <a:r>
              <a:rPr lang="pt-BR">
                <a:solidFill>
                  <a:schemeClr val="bg1"/>
                </a:solidFill>
                <a:latin typeface="Aptos Slab"/>
                <a:ea typeface="+mn-lt"/>
                <a:cs typeface="+mn-lt"/>
              </a:rPr>
              <a:t>Este módulo está responsável por controlar o fluxo do jogo, realizar o sorteio,</a:t>
            </a:r>
            <a:endParaRPr lang="pt-BR">
              <a:solidFill>
                <a:schemeClr val="bg1"/>
              </a:solidFill>
              <a:latin typeface="Aptos Slab"/>
            </a:endParaRPr>
          </a:p>
          <a:p>
            <a:r>
              <a:rPr lang="pt-BR">
                <a:solidFill>
                  <a:schemeClr val="bg1"/>
                </a:solidFill>
                <a:latin typeface="Aptos Slab"/>
                <a:ea typeface="+mn-lt"/>
                <a:cs typeface="+mn-lt"/>
              </a:rPr>
              <a:t>verificar se todos os números já foram sorteados e exibir uma mensagem de fim.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b="1">
                <a:solidFill>
                  <a:schemeClr val="bg1"/>
                </a:solidFill>
              </a:rPr>
              <a:t>SORTEIO</a:t>
            </a:r>
            <a:endParaRPr lang="pt-BR" b="1" dirty="0">
              <a:solidFill>
                <a:schemeClr val="bg1"/>
              </a:solidFill>
            </a:endParaRPr>
          </a:p>
          <a:p>
            <a:r>
              <a:rPr lang="pt-BR">
                <a:solidFill>
                  <a:srgbClr val="FFFFFF"/>
                </a:solidFill>
                <a:latin typeface="Aptos Slab"/>
              </a:rPr>
              <a:t>LSR     RAND_H</a:t>
            </a:r>
            <a:endParaRPr lang="pt-BR"/>
          </a:p>
          <a:p>
            <a:r>
              <a:rPr lang="pt-BR">
                <a:solidFill>
                  <a:srgbClr val="FFFFFF"/>
                </a:solidFill>
                <a:latin typeface="Aptos Slab"/>
              </a:rPr>
              <a:t>ROR     RAND_L</a:t>
            </a:r>
            <a:endParaRPr lang="pt-BR"/>
          </a:p>
          <a:p>
            <a:r>
              <a:rPr lang="pt-BR">
                <a:solidFill>
                  <a:srgbClr val="FFFFFF"/>
                </a:solidFill>
                <a:latin typeface="Aptos Slab"/>
              </a:rPr>
              <a:t>TST    TEMP</a:t>
            </a:r>
            <a:endParaRPr lang="pt-BR"/>
          </a:p>
          <a:p>
            <a:r>
              <a:rPr lang="pt-BR" dirty="0">
                <a:solidFill>
                  <a:srgbClr val="FFFFFF"/>
                </a:solidFill>
                <a:latin typeface="Aptos Slab"/>
              </a:rPr>
              <a:t>BREQ    </a:t>
            </a:r>
            <a:r>
              <a:rPr lang="pt-BR" dirty="0" err="1">
                <a:solidFill>
                  <a:srgbClr val="FFFFFF"/>
                </a:solidFill>
                <a:latin typeface="Aptos Slab"/>
              </a:rPr>
              <a:t>lfsr_ret</a:t>
            </a:r>
            <a:endParaRPr lang="pt-BR" dirty="0" err="1"/>
          </a:p>
          <a:p>
            <a:r>
              <a:rPr lang="pt-BR">
                <a:solidFill>
                  <a:srgbClr val="FFFFFF"/>
                </a:solidFill>
                <a:latin typeface="Aptos Slab"/>
              </a:rPr>
              <a:t>LDI    TEMP, 0xB4</a:t>
            </a:r>
            <a:endParaRPr lang="pt-BR"/>
          </a:p>
          <a:p>
            <a:r>
              <a:rPr lang="pt-BR" dirty="0">
                <a:solidFill>
                  <a:schemeClr val="bg1"/>
                </a:solidFill>
                <a:latin typeface="Consolas"/>
              </a:rPr>
              <a:t>EOR  RAND_H, TEMP</a:t>
            </a:r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3254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5A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5E17CF-B448-47ED-7EBA-2440B4807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DD9E838C-5935-2E95-FA1B-22E67CFF2F99}"/>
              </a:ext>
            </a:extLst>
          </p:cNvPr>
          <p:cNvSpPr/>
          <p:nvPr/>
        </p:nvSpPr>
        <p:spPr>
          <a:xfrm>
            <a:off x="3222289" y="-6750"/>
            <a:ext cx="7398470" cy="6867682"/>
          </a:xfrm>
          <a:prstGeom prst="rect">
            <a:avLst/>
          </a:prstGeom>
          <a:solidFill>
            <a:srgbClr val="460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685E1DA-4D30-1114-2762-277B9FA21869}"/>
              </a:ext>
            </a:extLst>
          </p:cNvPr>
          <p:cNvSpPr/>
          <p:nvPr/>
        </p:nvSpPr>
        <p:spPr>
          <a:xfrm>
            <a:off x="10329398" y="5802289"/>
            <a:ext cx="855306" cy="691287"/>
          </a:xfrm>
          <a:prstGeom prst="roundRect">
            <a:avLst/>
          </a:prstGeom>
          <a:solidFill>
            <a:srgbClr val="460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3">
            <a:extLst>
              <a:ext uri="{FF2B5EF4-FFF2-40B4-BE49-F238E27FC236}">
                <a16:creationId xmlns:a16="http://schemas.microsoft.com/office/drawing/2014/main" id="{8689D3F3-9E6C-A99A-ADA9-E42B191FC5AB}"/>
              </a:ext>
            </a:extLst>
          </p:cNvPr>
          <p:cNvSpPr/>
          <p:nvPr/>
        </p:nvSpPr>
        <p:spPr>
          <a:xfrm>
            <a:off x="993797" y="-6750"/>
            <a:ext cx="8778697" cy="6882059"/>
          </a:xfrm>
          <a:prstGeom prst="rect">
            <a:avLst/>
          </a:prstGeom>
          <a:solidFill>
            <a:srgbClr val="E02C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4CF75ACF-33D8-DD8D-3047-ED50432774FC}"/>
              </a:ext>
            </a:extLst>
          </p:cNvPr>
          <p:cNvSpPr/>
          <p:nvPr/>
        </p:nvSpPr>
        <p:spPr>
          <a:xfrm>
            <a:off x="9466755" y="4896514"/>
            <a:ext cx="855306" cy="691287"/>
          </a:xfrm>
          <a:prstGeom prst="roundRect">
            <a:avLst/>
          </a:prstGeom>
          <a:solidFill>
            <a:srgbClr val="E02C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3">
            <a:extLst>
              <a:ext uri="{FF2B5EF4-FFF2-40B4-BE49-F238E27FC236}">
                <a16:creationId xmlns:a16="http://schemas.microsoft.com/office/drawing/2014/main" id="{45B97AB8-FC76-858C-EAA7-E3485F8BCAE7}"/>
              </a:ext>
            </a:extLst>
          </p:cNvPr>
          <p:cNvSpPr/>
          <p:nvPr/>
        </p:nvSpPr>
        <p:spPr>
          <a:xfrm>
            <a:off x="993799" y="-164899"/>
            <a:ext cx="7844168" cy="7054587"/>
          </a:xfrm>
          <a:prstGeom prst="rect">
            <a:avLst/>
          </a:prstGeom>
          <a:solidFill>
            <a:srgbClr val="03AE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AB31929F-AF20-91E2-152B-4E290EB47527}"/>
              </a:ext>
            </a:extLst>
          </p:cNvPr>
          <p:cNvSpPr/>
          <p:nvPr/>
        </p:nvSpPr>
        <p:spPr>
          <a:xfrm>
            <a:off x="8604115" y="3818214"/>
            <a:ext cx="855306" cy="691287"/>
          </a:xfrm>
          <a:prstGeom prst="roundRect">
            <a:avLst/>
          </a:prstGeom>
          <a:solidFill>
            <a:srgbClr val="03AE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3">
            <a:extLst>
              <a:ext uri="{FF2B5EF4-FFF2-40B4-BE49-F238E27FC236}">
                <a16:creationId xmlns:a16="http://schemas.microsoft.com/office/drawing/2014/main" id="{39C4F9B1-BE8C-8042-9E2B-2A97936663EC}"/>
              </a:ext>
            </a:extLst>
          </p:cNvPr>
          <p:cNvSpPr/>
          <p:nvPr/>
        </p:nvSpPr>
        <p:spPr>
          <a:xfrm>
            <a:off x="-803372" y="-164900"/>
            <a:ext cx="8778697" cy="7054587"/>
          </a:xfrm>
          <a:prstGeom prst="rect">
            <a:avLst/>
          </a:prstGeom>
          <a:solidFill>
            <a:srgbClr val="FF9F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67755B53-314A-632D-ABF4-676B853BFD30}"/>
              </a:ext>
            </a:extLst>
          </p:cNvPr>
          <p:cNvSpPr/>
          <p:nvPr/>
        </p:nvSpPr>
        <p:spPr>
          <a:xfrm>
            <a:off x="7741473" y="2739911"/>
            <a:ext cx="855306" cy="691287"/>
          </a:xfrm>
          <a:prstGeom prst="roundRect">
            <a:avLst/>
          </a:prstGeom>
          <a:solidFill>
            <a:srgbClr val="FF9F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3">
            <a:extLst>
              <a:ext uri="{FF2B5EF4-FFF2-40B4-BE49-F238E27FC236}">
                <a16:creationId xmlns:a16="http://schemas.microsoft.com/office/drawing/2014/main" id="{5949D0B3-130A-E6DC-AC24-8A3457046692}"/>
              </a:ext>
            </a:extLst>
          </p:cNvPr>
          <p:cNvSpPr/>
          <p:nvPr/>
        </p:nvSpPr>
        <p:spPr>
          <a:xfrm>
            <a:off x="-803373" y="-164899"/>
            <a:ext cx="7930432" cy="7040209"/>
          </a:xfrm>
          <a:prstGeom prst="rect">
            <a:avLst/>
          </a:prstGeom>
          <a:solidFill>
            <a:srgbClr val="FFE5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8EFE33D3-E79F-BEC8-922D-87F3479541FE}"/>
              </a:ext>
            </a:extLst>
          </p:cNvPr>
          <p:cNvSpPr/>
          <p:nvPr/>
        </p:nvSpPr>
        <p:spPr>
          <a:xfrm>
            <a:off x="6878831" y="1719119"/>
            <a:ext cx="855306" cy="691287"/>
          </a:xfrm>
          <a:prstGeom prst="roundRect">
            <a:avLst/>
          </a:prstGeom>
          <a:solidFill>
            <a:srgbClr val="FFE5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B5DEEC9-44CD-E5E1-97DD-07DE507CAA1C}"/>
              </a:ext>
            </a:extLst>
          </p:cNvPr>
          <p:cNvSpPr txBox="1"/>
          <p:nvPr/>
        </p:nvSpPr>
        <p:spPr>
          <a:xfrm>
            <a:off x="2777471" y="166073"/>
            <a:ext cx="161877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CIRCUITO</a:t>
            </a:r>
            <a:endParaRPr lang="pt-BR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" name="Imagem 1" descr="Tela de jogo de vídeo game&#10;&#10;O conteúdo gerado por IA pode estar incorreto.">
            <a:extLst>
              <a:ext uri="{FF2B5EF4-FFF2-40B4-BE49-F238E27FC236}">
                <a16:creationId xmlns:a16="http://schemas.microsoft.com/office/drawing/2014/main" id="{8FAE48BF-342C-0436-BD30-F89C57D58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223" y="762000"/>
            <a:ext cx="4363478" cy="267419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6F640713-4EFD-E8D9-6568-DDC51050A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387" y="3602068"/>
            <a:ext cx="4363528" cy="251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5863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5A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0D139B-6DE0-9244-9F83-60BE7ACE7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5EE985B-9586-DD28-6788-FB93785BE102}"/>
              </a:ext>
            </a:extLst>
          </p:cNvPr>
          <p:cNvSpPr/>
          <p:nvPr/>
        </p:nvSpPr>
        <p:spPr>
          <a:xfrm>
            <a:off x="-832127" y="-35504"/>
            <a:ext cx="5486282" cy="6882059"/>
          </a:xfrm>
          <a:prstGeom prst="rect">
            <a:avLst/>
          </a:prstGeom>
          <a:solidFill>
            <a:srgbClr val="460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42719297-631D-F289-C945-32B458B2834C}"/>
              </a:ext>
            </a:extLst>
          </p:cNvPr>
          <p:cNvSpPr/>
          <p:nvPr/>
        </p:nvSpPr>
        <p:spPr>
          <a:xfrm>
            <a:off x="4391549" y="5744780"/>
            <a:ext cx="855306" cy="691287"/>
          </a:xfrm>
          <a:prstGeom prst="roundRect">
            <a:avLst/>
          </a:prstGeom>
          <a:solidFill>
            <a:srgbClr val="460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3">
            <a:extLst>
              <a:ext uri="{FF2B5EF4-FFF2-40B4-BE49-F238E27FC236}">
                <a16:creationId xmlns:a16="http://schemas.microsoft.com/office/drawing/2014/main" id="{46DD1BB4-F7B0-C0C9-2FF9-D05BAA4E9428}"/>
              </a:ext>
            </a:extLst>
          </p:cNvPr>
          <p:cNvSpPr/>
          <p:nvPr/>
        </p:nvSpPr>
        <p:spPr>
          <a:xfrm>
            <a:off x="-1694769" y="-35505"/>
            <a:ext cx="5486282" cy="6882059"/>
          </a:xfrm>
          <a:prstGeom prst="rect">
            <a:avLst/>
          </a:prstGeom>
          <a:solidFill>
            <a:srgbClr val="E02C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59E6376-4BA8-9D0C-62C3-C8E8AE1EB956}"/>
              </a:ext>
            </a:extLst>
          </p:cNvPr>
          <p:cNvSpPr/>
          <p:nvPr/>
        </p:nvSpPr>
        <p:spPr>
          <a:xfrm>
            <a:off x="3528906" y="4882137"/>
            <a:ext cx="855306" cy="691287"/>
          </a:xfrm>
          <a:prstGeom prst="roundRect">
            <a:avLst/>
          </a:prstGeom>
          <a:solidFill>
            <a:srgbClr val="E02C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3">
            <a:extLst>
              <a:ext uri="{FF2B5EF4-FFF2-40B4-BE49-F238E27FC236}">
                <a16:creationId xmlns:a16="http://schemas.microsoft.com/office/drawing/2014/main" id="{C94E15FC-C5E3-5BB6-9C7B-78FF1F9BD041}"/>
              </a:ext>
            </a:extLst>
          </p:cNvPr>
          <p:cNvSpPr/>
          <p:nvPr/>
        </p:nvSpPr>
        <p:spPr>
          <a:xfrm>
            <a:off x="-2514277" y="-193654"/>
            <a:ext cx="5486282" cy="7040210"/>
          </a:xfrm>
          <a:prstGeom prst="rect">
            <a:avLst/>
          </a:prstGeom>
          <a:solidFill>
            <a:srgbClr val="03AE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0732C1AE-AE76-2001-C650-971357C1A3EB}"/>
              </a:ext>
            </a:extLst>
          </p:cNvPr>
          <p:cNvSpPr/>
          <p:nvPr/>
        </p:nvSpPr>
        <p:spPr>
          <a:xfrm>
            <a:off x="2666266" y="3947610"/>
            <a:ext cx="855306" cy="691287"/>
          </a:xfrm>
          <a:prstGeom prst="roundRect">
            <a:avLst/>
          </a:prstGeom>
          <a:solidFill>
            <a:srgbClr val="03AE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3">
            <a:extLst>
              <a:ext uri="{FF2B5EF4-FFF2-40B4-BE49-F238E27FC236}">
                <a16:creationId xmlns:a16="http://schemas.microsoft.com/office/drawing/2014/main" id="{6FFFEB22-0699-3A46-7E2D-CDF7C79C3103}"/>
              </a:ext>
            </a:extLst>
          </p:cNvPr>
          <p:cNvSpPr/>
          <p:nvPr/>
        </p:nvSpPr>
        <p:spPr>
          <a:xfrm>
            <a:off x="-3391297" y="-193655"/>
            <a:ext cx="5486282" cy="7040210"/>
          </a:xfrm>
          <a:prstGeom prst="rect">
            <a:avLst/>
          </a:prstGeom>
          <a:solidFill>
            <a:srgbClr val="FF9F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59284020-AAAF-B732-EDD0-10F5CEFBF474}"/>
              </a:ext>
            </a:extLst>
          </p:cNvPr>
          <p:cNvSpPr/>
          <p:nvPr/>
        </p:nvSpPr>
        <p:spPr>
          <a:xfrm>
            <a:off x="1803624" y="2883685"/>
            <a:ext cx="855306" cy="691287"/>
          </a:xfrm>
          <a:prstGeom prst="roundRect">
            <a:avLst/>
          </a:prstGeom>
          <a:solidFill>
            <a:srgbClr val="FF9F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3">
            <a:extLst>
              <a:ext uri="{FF2B5EF4-FFF2-40B4-BE49-F238E27FC236}">
                <a16:creationId xmlns:a16="http://schemas.microsoft.com/office/drawing/2014/main" id="{2E452B37-4176-6418-7DDB-BB41B275C1CA}"/>
              </a:ext>
            </a:extLst>
          </p:cNvPr>
          <p:cNvSpPr/>
          <p:nvPr/>
        </p:nvSpPr>
        <p:spPr>
          <a:xfrm>
            <a:off x="-4282694" y="-179276"/>
            <a:ext cx="5486282" cy="7040209"/>
          </a:xfrm>
          <a:prstGeom prst="rect">
            <a:avLst/>
          </a:prstGeom>
          <a:solidFill>
            <a:srgbClr val="FFE5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FA53EC9C-3F08-CCBC-3E37-8A8CF3CA5987}"/>
              </a:ext>
            </a:extLst>
          </p:cNvPr>
          <p:cNvSpPr/>
          <p:nvPr/>
        </p:nvSpPr>
        <p:spPr>
          <a:xfrm>
            <a:off x="940982" y="1877270"/>
            <a:ext cx="855306" cy="691287"/>
          </a:xfrm>
          <a:prstGeom prst="roundRect">
            <a:avLst/>
          </a:prstGeom>
          <a:solidFill>
            <a:srgbClr val="FFE5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82BEB35-634B-2FA6-6002-67C45A821BA9}"/>
              </a:ext>
            </a:extLst>
          </p:cNvPr>
          <p:cNvSpPr txBox="1"/>
          <p:nvPr/>
        </p:nvSpPr>
        <p:spPr>
          <a:xfrm>
            <a:off x="6627081" y="3171821"/>
            <a:ext cx="355913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latin typeface="Bahnschrift"/>
              </a:rPr>
              <a:t>Agradecemos à </a:t>
            </a:r>
            <a:r>
              <a:rPr lang="pt-BR" sz="2400">
                <a:latin typeface="Bahnschrift"/>
              </a:rPr>
              <a:t>atenção.</a:t>
            </a:r>
            <a:endParaRPr lang="pt-BR" sz="2400" dirty="0">
              <a:latin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16732744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5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447</cp:revision>
  <dcterms:created xsi:type="dcterms:W3CDTF">2026-06-14T10:55:07Z</dcterms:created>
  <dcterms:modified xsi:type="dcterms:W3CDTF">2026-06-14T19:26:13Z</dcterms:modified>
</cp:coreProperties>
</file>